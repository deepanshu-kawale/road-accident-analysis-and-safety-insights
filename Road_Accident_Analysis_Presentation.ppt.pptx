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66" r:id="rId4"/>
    <p:sldId id="259" r:id="rId5"/>
    <p:sldId id="278" r:id="rId6"/>
    <p:sldId id="267" r:id="rId7"/>
    <p:sldId id="268" r:id="rId8"/>
    <p:sldId id="269" r:id="rId9"/>
    <p:sldId id="270" r:id="rId10"/>
    <p:sldId id="271" r:id="rId11"/>
    <p:sldId id="273" r:id="rId12"/>
    <p:sldId id="274" r:id="rId13"/>
    <p:sldId id="275" r:id="rId14"/>
    <p:sldId id="264" r:id="rId15"/>
    <p:sldId id="280" r:id="rId16"/>
    <p:sldId id="281" r:id="rId17"/>
    <p:sldId id="283" r:id="rId18"/>
    <p:sldId id="282" r:id="rId19"/>
    <p:sldId id="265" r:id="rId20"/>
    <p:sldId id="28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9" autoAdjust="0"/>
    <p:restoredTop sz="94660"/>
  </p:normalViewPr>
  <p:slideViewPr>
    <p:cSldViewPr snapToGrid="0">
      <p:cViewPr varScale="1">
        <p:scale>
          <a:sx n="63" d="100"/>
          <a:sy n="63" d="100"/>
        </p:scale>
        <p:origin x="64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1B73ED-5A7F-49D9-8DE0-65F5ABD04C5E}" type="datetimeFigureOut">
              <a:rPr lang="en-IN" smtClean="0"/>
              <a:t>02-06-2026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66326A-A01E-48D9-9C79-95BB8A3B18F6}" type="slidenum">
              <a:rPr lang="en-IN" smtClean="0"/>
              <a:t>‹#›</a:t>
            </a:fld>
            <a:endParaRPr lang="en-IN"/>
          </a:p>
        </p:txBody>
      </p:sp>
    </p:spTree>
    <p:extLst>
      <p:ext uri="{BB962C8B-B14F-4D97-AF65-F5344CB8AC3E}">
        <p14:creationId xmlns:p14="http://schemas.microsoft.com/office/powerpoint/2010/main" val="1208057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7223bd2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7223bd2a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4620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caee8303e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caee8303e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4799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b7223bd2a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85367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b7223bd2a0_0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7223bd2a0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0906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0656FFEF-49BA-F779-66F7-DC6BD85B3C06}"/>
            </a:ext>
          </a:extLst>
        </p:cNvPr>
        <p:cNvGrpSpPr/>
        <p:nvPr/>
      </p:nvGrpSpPr>
      <p:grpSpPr>
        <a:xfrm>
          <a:off x="0" y="0"/>
          <a:ext cx="0" cy="0"/>
          <a:chOff x="0" y="0"/>
          <a:chExt cx="0" cy="0"/>
        </a:xfrm>
      </p:grpSpPr>
      <p:sp>
        <p:nvSpPr>
          <p:cNvPr id="347" name="Google Shape;347;gb7223bd2a0_0_349:notes">
            <a:extLst>
              <a:ext uri="{FF2B5EF4-FFF2-40B4-BE49-F238E27FC236}">
                <a16:creationId xmlns:a16="http://schemas.microsoft.com/office/drawing/2014/main" id="{439EE7BC-CE7A-D847-388C-C7D7B4805D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7223bd2a0_0_349:notes">
            <a:extLst>
              <a:ext uri="{FF2B5EF4-FFF2-40B4-BE49-F238E27FC236}">
                <a16:creationId xmlns:a16="http://schemas.microsoft.com/office/drawing/2014/main" id="{52F460CB-CF0F-7E5E-AA5F-BEA0E7EB99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1980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A6098CA8-FAAD-FCE8-7D5A-6C187A4B72DC}"/>
            </a:ext>
          </a:extLst>
        </p:cNvPr>
        <p:cNvGrpSpPr/>
        <p:nvPr/>
      </p:nvGrpSpPr>
      <p:grpSpPr>
        <a:xfrm>
          <a:off x="0" y="0"/>
          <a:ext cx="0" cy="0"/>
          <a:chOff x="0" y="0"/>
          <a:chExt cx="0" cy="0"/>
        </a:xfrm>
      </p:grpSpPr>
      <p:sp>
        <p:nvSpPr>
          <p:cNvPr id="347" name="Google Shape;347;gb7223bd2a0_0_349:notes">
            <a:extLst>
              <a:ext uri="{FF2B5EF4-FFF2-40B4-BE49-F238E27FC236}">
                <a16:creationId xmlns:a16="http://schemas.microsoft.com/office/drawing/2014/main" id="{A8CB7ACF-5DBF-480A-A76E-68396F87EB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7223bd2a0_0_349:notes">
            <a:extLst>
              <a:ext uri="{FF2B5EF4-FFF2-40B4-BE49-F238E27FC236}">
                <a16:creationId xmlns:a16="http://schemas.microsoft.com/office/drawing/2014/main" id="{4B045527-ED07-293D-B172-E3DD62839A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55625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6BAF649E-8D97-84A0-A976-DBE8E2304E41}"/>
            </a:ext>
          </a:extLst>
        </p:cNvPr>
        <p:cNvGrpSpPr/>
        <p:nvPr/>
      </p:nvGrpSpPr>
      <p:grpSpPr>
        <a:xfrm>
          <a:off x="0" y="0"/>
          <a:ext cx="0" cy="0"/>
          <a:chOff x="0" y="0"/>
          <a:chExt cx="0" cy="0"/>
        </a:xfrm>
      </p:grpSpPr>
      <p:sp>
        <p:nvSpPr>
          <p:cNvPr id="347" name="Google Shape;347;gb7223bd2a0_0_349:notes">
            <a:extLst>
              <a:ext uri="{FF2B5EF4-FFF2-40B4-BE49-F238E27FC236}">
                <a16:creationId xmlns:a16="http://schemas.microsoft.com/office/drawing/2014/main" id="{68316DF0-205D-8510-5637-40843E7DB4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7223bd2a0_0_349:notes">
            <a:extLst>
              <a:ext uri="{FF2B5EF4-FFF2-40B4-BE49-F238E27FC236}">
                <a16:creationId xmlns:a16="http://schemas.microsoft.com/office/drawing/2014/main" id="{013DAB7F-6E28-974E-5DF5-7FA9DCF041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28421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2253AB2F-7100-51F6-19F4-C909C57F1206}"/>
            </a:ext>
          </a:extLst>
        </p:cNvPr>
        <p:cNvGrpSpPr/>
        <p:nvPr/>
      </p:nvGrpSpPr>
      <p:grpSpPr>
        <a:xfrm>
          <a:off x="0" y="0"/>
          <a:ext cx="0" cy="0"/>
          <a:chOff x="0" y="0"/>
          <a:chExt cx="0" cy="0"/>
        </a:xfrm>
      </p:grpSpPr>
      <p:sp>
        <p:nvSpPr>
          <p:cNvPr id="347" name="Google Shape;347;gb7223bd2a0_0_349:notes">
            <a:extLst>
              <a:ext uri="{FF2B5EF4-FFF2-40B4-BE49-F238E27FC236}">
                <a16:creationId xmlns:a16="http://schemas.microsoft.com/office/drawing/2014/main" id="{1306A510-0198-C827-8294-AF29DA3016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7223bd2a0_0_349:notes">
            <a:extLst>
              <a:ext uri="{FF2B5EF4-FFF2-40B4-BE49-F238E27FC236}">
                <a16:creationId xmlns:a16="http://schemas.microsoft.com/office/drawing/2014/main" id="{07223F32-D56F-33F5-1F80-FDEF5B3AC1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2594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368A7D8B-59D3-D8EA-A86D-BA3B46ADD0EF}"/>
            </a:ext>
          </a:extLst>
        </p:cNvPr>
        <p:cNvGrpSpPr/>
        <p:nvPr/>
      </p:nvGrpSpPr>
      <p:grpSpPr>
        <a:xfrm>
          <a:off x="0" y="0"/>
          <a:ext cx="0" cy="0"/>
          <a:chOff x="0" y="0"/>
          <a:chExt cx="0" cy="0"/>
        </a:xfrm>
      </p:grpSpPr>
      <p:sp>
        <p:nvSpPr>
          <p:cNvPr id="347" name="Google Shape;347;gb7223bd2a0_0_349:notes">
            <a:extLst>
              <a:ext uri="{FF2B5EF4-FFF2-40B4-BE49-F238E27FC236}">
                <a16:creationId xmlns:a16="http://schemas.microsoft.com/office/drawing/2014/main" id="{13EBD8F7-3EFD-1C3F-A29B-EBF93FB595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7223bd2a0_0_349:notes">
            <a:extLst>
              <a:ext uri="{FF2B5EF4-FFF2-40B4-BE49-F238E27FC236}">
                <a16:creationId xmlns:a16="http://schemas.microsoft.com/office/drawing/2014/main" id="{CCF1D303-9A09-D249-3E91-58B9E264FE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9357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012D0112-9439-3232-C5BA-94FDF60DA9FC}"/>
            </a:ext>
          </a:extLst>
        </p:cNvPr>
        <p:cNvGrpSpPr/>
        <p:nvPr/>
      </p:nvGrpSpPr>
      <p:grpSpPr>
        <a:xfrm>
          <a:off x="0" y="0"/>
          <a:ext cx="0" cy="0"/>
          <a:chOff x="0" y="0"/>
          <a:chExt cx="0" cy="0"/>
        </a:xfrm>
      </p:grpSpPr>
      <p:sp>
        <p:nvSpPr>
          <p:cNvPr id="347" name="Google Shape;347;gb7223bd2a0_0_349:notes">
            <a:extLst>
              <a:ext uri="{FF2B5EF4-FFF2-40B4-BE49-F238E27FC236}">
                <a16:creationId xmlns:a16="http://schemas.microsoft.com/office/drawing/2014/main" id="{705AF800-1C3A-CE43-4400-C24501F11A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7223bd2a0_0_349:notes">
            <a:extLst>
              <a:ext uri="{FF2B5EF4-FFF2-40B4-BE49-F238E27FC236}">
                <a16:creationId xmlns:a16="http://schemas.microsoft.com/office/drawing/2014/main" id="{C2422506-51A1-A24A-02E4-75601EB53E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42658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22AE9C95-9010-2BD6-8936-53D9733733D6}"/>
            </a:ext>
          </a:extLst>
        </p:cNvPr>
        <p:cNvGrpSpPr/>
        <p:nvPr/>
      </p:nvGrpSpPr>
      <p:grpSpPr>
        <a:xfrm>
          <a:off x="0" y="0"/>
          <a:ext cx="0" cy="0"/>
          <a:chOff x="0" y="0"/>
          <a:chExt cx="0" cy="0"/>
        </a:xfrm>
      </p:grpSpPr>
      <p:sp>
        <p:nvSpPr>
          <p:cNvPr id="347" name="Google Shape;347;gb7223bd2a0_0_349:notes">
            <a:extLst>
              <a:ext uri="{FF2B5EF4-FFF2-40B4-BE49-F238E27FC236}">
                <a16:creationId xmlns:a16="http://schemas.microsoft.com/office/drawing/2014/main" id="{B7D1F2CE-F452-46C6-7DA3-995E7505F1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7223bd2a0_0_349:notes">
            <a:extLst>
              <a:ext uri="{FF2B5EF4-FFF2-40B4-BE49-F238E27FC236}">
                <a16:creationId xmlns:a16="http://schemas.microsoft.com/office/drawing/2014/main" id="{C2E7ACEF-DB92-842E-3D46-AE7C1D8996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9097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96A40898-4631-A9C8-2F71-061E90AB5FFB}"/>
            </a:ext>
          </a:extLst>
        </p:cNvPr>
        <p:cNvGrpSpPr/>
        <p:nvPr/>
      </p:nvGrpSpPr>
      <p:grpSpPr>
        <a:xfrm>
          <a:off x="0" y="0"/>
          <a:ext cx="0" cy="0"/>
          <a:chOff x="0" y="0"/>
          <a:chExt cx="0" cy="0"/>
        </a:xfrm>
      </p:grpSpPr>
      <p:sp>
        <p:nvSpPr>
          <p:cNvPr id="347" name="Google Shape;347;gb7223bd2a0_0_349:notes">
            <a:extLst>
              <a:ext uri="{FF2B5EF4-FFF2-40B4-BE49-F238E27FC236}">
                <a16:creationId xmlns:a16="http://schemas.microsoft.com/office/drawing/2014/main" id="{AD276260-387E-88A5-8D44-26207FAE0C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7223bd2a0_0_349:notes">
            <a:extLst>
              <a:ext uri="{FF2B5EF4-FFF2-40B4-BE49-F238E27FC236}">
                <a16:creationId xmlns:a16="http://schemas.microsoft.com/office/drawing/2014/main" id="{44791B66-8B12-ED69-7E4A-32745E085B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7865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49C82F60-2BC6-E38A-5A08-E4D6821192D6}"/>
            </a:ext>
          </a:extLst>
        </p:cNvPr>
        <p:cNvGrpSpPr/>
        <p:nvPr/>
      </p:nvGrpSpPr>
      <p:grpSpPr>
        <a:xfrm>
          <a:off x="0" y="0"/>
          <a:ext cx="0" cy="0"/>
          <a:chOff x="0" y="0"/>
          <a:chExt cx="0" cy="0"/>
        </a:xfrm>
      </p:grpSpPr>
      <p:sp>
        <p:nvSpPr>
          <p:cNvPr id="347" name="Google Shape;347;gb7223bd2a0_0_349:notes">
            <a:extLst>
              <a:ext uri="{FF2B5EF4-FFF2-40B4-BE49-F238E27FC236}">
                <a16:creationId xmlns:a16="http://schemas.microsoft.com/office/drawing/2014/main" id="{9D6AD425-8317-6F20-8399-0E0ECFBF45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7223bd2a0_0_349:notes">
            <a:extLst>
              <a:ext uri="{FF2B5EF4-FFF2-40B4-BE49-F238E27FC236}">
                <a16:creationId xmlns:a16="http://schemas.microsoft.com/office/drawing/2014/main" id="{56A92B9A-9F68-EEA6-5080-C3AC64CC74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50203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b7223bd2a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1403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19979D2A-4D78-F693-7458-3EA789C4E407}"/>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130EF36B-6503-B7F6-DD1B-B5FFD46263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2B80EE51-F23E-3148-04D4-9E08641277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34478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3319D2B3-915C-BF5B-1F84-1647B084FC5B}"/>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D6C9F7D2-D621-44B5-2DE4-966322064B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6E8D9626-85DE-B251-D1FD-53C2ED20DB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771809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2D91DB94-2F18-0C15-1C9C-7AA24C6A2456}"/>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4FD07F05-64EE-34B9-8B03-3C4EC1F822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507FD840-F0A5-ECEB-40ED-A07683F864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895419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9421D9E9-19D6-2D4D-FCD5-1622053ED735}"/>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BFC14720-EBEC-22EB-8E25-F75BC57512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EE3D1A5F-0EF0-F70F-DDB8-0C9A0258CF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42303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b7223bd2a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4105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3E29D747-476A-6F60-CE29-D6D8A967DBEE}"/>
            </a:ext>
          </a:extLst>
        </p:cNvPr>
        <p:cNvGrpSpPr/>
        <p:nvPr/>
      </p:nvGrpSpPr>
      <p:grpSpPr>
        <a:xfrm>
          <a:off x="0" y="0"/>
          <a:ext cx="0" cy="0"/>
          <a:chOff x="0" y="0"/>
          <a:chExt cx="0" cy="0"/>
        </a:xfrm>
      </p:grpSpPr>
      <p:sp>
        <p:nvSpPr>
          <p:cNvPr id="387" name="Google Shape;387;gb7223bd2a0_0_331:notes">
            <a:extLst>
              <a:ext uri="{FF2B5EF4-FFF2-40B4-BE49-F238E27FC236}">
                <a16:creationId xmlns:a16="http://schemas.microsoft.com/office/drawing/2014/main" id="{4AA8ED9B-DD16-FE2E-C67D-F78B3288F6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a:extLst>
              <a:ext uri="{FF2B5EF4-FFF2-40B4-BE49-F238E27FC236}">
                <a16:creationId xmlns:a16="http://schemas.microsoft.com/office/drawing/2014/main" id="{C10E6CD9-E664-E14E-7A8D-C26FE05150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1094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38F6550-DC47-412E-A6BD-C043C18783D6}"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136716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38F6550-DC47-412E-A6BD-C043C18783D6}"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322149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38F6550-DC47-412E-A6BD-C043C18783D6}"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3848343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38F6550-DC47-412E-A6BD-C043C18783D6}" type="datetimeFigureOut">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884011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38F6550-DC47-412E-A6BD-C043C18783D6}" type="datetimeFigureOut">
              <a:rPr lang="en-IN" smtClean="0"/>
              <a:t>02-06-2026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2176291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38F6550-DC47-412E-A6BD-C043C18783D6}" type="datetimeFigureOut">
              <a:rPr lang="en-IN" smtClean="0"/>
              <a:t>02-06-2026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454250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8F6550-DC47-412E-A6BD-C043C18783D6}" type="datetimeFigureOut">
              <a:rPr lang="en-IN" smtClean="0"/>
              <a:t>02-06-2026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2837486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38F6550-DC47-412E-A6BD-C043C18783D6}" type="datetimeFigureOut">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2175328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38F6550-DC47-412E-A6BD-C043C18783D6}" type="datetimeFigureOut">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2760098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38F6550-DC47-412E-A6BD-C043C18783D6}"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1020621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38F6550-DC47-412E-A6BD-C043C18783D6}"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D71CF-7B1B-462D-96FD-DE7121FB0FF9}" type="slidenum">
              <a:rPr lang="en-IN" smtClean="0"/>
              <a:t>‹#›</a:t>
            </a:fld>
            <a:endParaRPr lang="en-IN"/>
          </a:p>
        </p:txBody>
      </p:sp>
    </p:spTree>
    <p:extLst>
      <p:ext uri="{BB962C8B-B14F-4D97-AF65-F5344CB8AC3E}">
        <p14:creationId xmlns:p14="http://schemas.microsoft.com/office/powerpoint/2010/main" val="2778148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8F6550-DC47-412E-A6BD-C043C18783D6}" type="datetimeFigureOut">
              <a:rPr lang="en-IN" smtClean="0"/>
              <a:t>02-06-2026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7D71CF-7B1B-462D-96FD-DE7121FB0FF9}" type="slidenum">
              <a:rPr lang="en-IN" smtClean="0"/>
              <a:t>‹#›</a:t>
            </a:fld>
            <a:endParaRPr lang="en-IN"/>
          </a:p>
        </p:txBody>
      </p:sp>
    </p:spTree>
    <p:extLst>
      <p:ext uri="{BB962C8B-B14F-4D97-AF65-F5344CB8AC3E}">
        <p14:creationId xmlns:p14="http://schemas.microsoft.com/office/powerpoint/2010/main" val="2779792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330" name="Google Shape;330;p13"/>
          <p:cNvSpPr txBox="1"/>
          <p:nvPr/>
        </p:nvSpPr>
        <p:spPr>
          <a:xfrm>
            <a:off x="204200" y="2189608"/>
            <a:ext cx="11360800" cy="1829600"/>
          </a:xfrm>
          <a:prstGeom prst="rect">
            <a:avLst/>
          </a:prstGeom>
          <a:noFill/>
          <a:ln>
            <a:noFill/>
          </a:ln>
        </p:spPr>
        <p:txBody>
          <a:bodyPr spcFirstLastPara="1" wrap="square" lIns="121900" tIns="121900" rIns="121900" bIns="121900" anchor="ctr" anchorCtr="0">
            <a:noAutofit/>
          </a:bodyPr>
          <a:lstStyle/>
          <a:p>
            <a:pPr algn="ctr"/>
            <a:r>
              <a:rPr lang="en-US" sz="4800" b="1" dirty="0">
                <a:solidFill>
                  <a:srgbClr val="FF6A0E"/>
                </a:solidFill>
              </a:rPr>
              <a:t>Road Accident Analysis and Safety Insights</a:t>
            </a:r>
            <a:endParaRPr sz="4800" b="1" dirty="0">
              <a:solidFill>
                <a:srgbClr val="FF6A0E"/>
              </a:solidFill>
            </a:endParaRPr>
          </a:p>
        </p:txBody>
      </p:sp>
      <p:sp>
        <p:nvSpPr>
          <p:cNvPr id="334" name="Google Shape;334;p13"/>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buClr>
                <a:srgbClr val="000000"/>
              </a:buClr>
              <a:buSzPts val="1200"/>
            </a:pP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35" name="Google Shape;335;p13"/>
          <p:cNvSpPr/>
          <p:nvPr/>
        </p:nvSpPr>
        <p:spPr>
          <a:xfrm>
            <a:off x="-1340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04D63B57-2B6C-4AEF-AA4E-F393A4E8B2DF}"/>
              </a:ext>
            </a:extLst>
          </p:cNvPr>
          <p:cNvSpPr txBox="1"/>
          <p:nvPr/>
        </p:nvSpPr>
        <p:spPr>
          <a:xfrm>
            <a:off x="8392632" y="5302104"/>
            <a:ext cx="3172368" cy="461665"/>
          </a:xfrm>
          <a:prstGeom prst="rect">
            <a:avLst/>
          </a:prstGeom>
          <a:noFill/>
        </p:spPr>
        <p:txBody>
          <a:bodyPr wrap="square" rtlCol="0">
            <a:spAutoFit/>
          </a:bodyPr>
          <a:lstStyle/>
          <a:p>
            <a:r>
              <a:rPr lang="en-IN" sz="2400" b="1" dirty="0">
                <a:solidFill>
                  <a:srgbClr val="FF6A0E"/>
                </a:solidFill>
              </a:rPr>
              <a:t>Deepanshu Kawale</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0596" y="172324"/>
            <a:ext cx="848809" cy="734389"/>
          </a:xfrm>
          <a:prstGeom prst="rect">
            <a:avLst/>
          </a:prstGeom>
        </p:spPr>
      </p:pic>
    </p:spTree>
    <p:extLst>
      <p:ext uri="{BB962C8B-B14F-4D97-AF65-F5344CB8AC3E}">
        <p14:creationId xmlns:p14="http://schemas.microsoft.com/office/powerpoint/2010/main" val="1478729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1" name="Google Shape;341;p14"/>
          <p:cNvSpPr txBox="1">
            <a:spLocks noGrp="1"/>
          </p:cNvSpPr>
          <p:nvPr>
            <p:ph type="ctrTitle"/>
          </p:nvPr>
        </p:nvSpPr>
        <p:spPr>
          <a:xfrm>
            <a:off x="-13400" y="96400"/>
            <a:ext cx="12218800" cy="947680"/>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GB" sz="4000" b="1" dirty="0">
                <a:solidFill>
                  <a:srgbClr val="FFFFFF"/>
                </a:solidFill>
                <a:latin typeface="Roboto"/>
                <a:ea typeface="Roboto"/>
                <a:cs typeface="Roboto"/>
                <a:sym typeface="Roboto"/>
              </a:rPr>
              <a:t>Problem Statement</a:t>
            </a:r>
            <a:endParaRPr sz="4000" b="1" dirty="0">
              <a:solidFill>
                <a:srgbClr val="FFFFFF"/>
              </a:solidFill>
              <a:latin typeface="Roboto"/>
              <a:ea typeface="Roboto"/>
              <a:cs typeface="Roboto"/>
              <a:sym typeface="Roboto"/>
            </a:endParaRPr>
          </a:p>
        </p:txBody>
      </p:sp>
      <p:sp>
        <p:nvSpPr>
          <p:cNvPr id="342" name="Google Shape;342;p14"/>
          <p:cNvSpPr txBox="1"/>
          <p:nvPr/>
        </p:nvSpPr>
        <p:spPr>
          <a:xfrm>
            <a:off x="13400" y="1056840"/>
            <a:ext cx="12192000" cy="5331200"/>
          </a:xfrm>
          <a:prstGeom prst="rect">
            <a:avLst/>
          </a:prstGeom>
          <a:noFill/>
          <a:ln>
            <a:noFill/>
          </a:ln>
        </p:spPr>
        <p:txBody>
          <a:bodyPr spcFirstLastPara="1" wrap="square" lIns="365733" tIns="365733" rIns="365733" bIns="365733" anchor="t" anchorCtr="0">
            <a:noAutofit/>
          </a:bodyPr>
          <a:lstStyle/>
          <a:p>
            <a:pPr marL="135463" algn="just">
              <a:lnSpc>
                <a:spcPct val="150000"/>
              </a:lnSpc>
              <a:buClr>
                <a:srgbClr val="000000"/>
              </a:buClr>
              <a:buSzPts val="2000"/>
            </a:pPr>
            <a:endParaRPr sz="2667" dirty="0">
              <a:solidFill>
                <a:schemeClr val="dk1"/>
              </a:solidFill>
              <a:latin typeface="Roboto"/>
              <a:ea typeface="Roboto"/>
              <a:cs typeface="Roboto"/>
              <a:sym typeface="Roboto"/>
            </a:endParaRPr>
          </a:p>
        </p:txBody>
      </p:sp>
      <p:sp>
        <p:nvSpPr>
          <p:cNvPr id="343" name="Google Shape;343;p14"/>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44" name="Google Shape;344;p14"/>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45" name="Google Shape;345;p14"/>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7" name="TextBox 6">
            <a:extLst>
              <a:ext uri="{FF2B5EF4-FFF2-40B4-BE49-F238E27FC236}">
                <a16:creationId xmlns:a16="http://schemas.microsoft.com/office/drawing/2014/main" id="{682E257C-1B49-14D6-72C1-2EEA84B8CAB3}"/>
              </a:ext>
            </a:extLst>
          </p:cNvPr>
          <p:cNvSpPr txBox="1"/>
          <p:nvPr/>
        </p:nvSpPr>
        <p:spPr>
          <a:xfrm>
            <a:off x="609600" y="1044080"/>
            <a:ext cx="10424160" cy="3416320"/>
          </a:xfrm>
          <a:prstGeom prst="rect">
            <a:avLst/>
          </a:prstGeom>
          <a:noFill/>
        </p:spPr>
        <p:txBody>
          <a:bodyPr wrap="square" rtlCol="0">
            <a:spAutoFit/>
          </a:bodyPr>
          <a:lstStyle/>
          <a:p>
            <a:pPr lvl="0" eaLnBrk="0" fontAlgn="base" hangingPunct="0">
              <a:spcBef>
                <a:spcPct val="0"/>
              </a:spcBef>
              <a:spcAft>
                <a:spcPct val="0"/>
              </a:spcAft>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sz="2000" b="1" dirty="0">
                <a:latin typeface="Arial" panose="020B0604020202020204" pitchFamily="34" charset="0"/>
              </a:rPr>
              <a:t>Road accidents are a major public safety issue causing loss of life and property.</a:t>
            </a:r>
          </a:p>
          <a:p>
            <a:pPr lvl="0" eaLnBrk="0" fontAlgn="base" hangingPunct="0">
              <a:spcBef>
                <a:spcPct val="0"/>
              </a:spcBef>
              <a:spcAft>
                <a:spcPct val="0"/>
              </a:spcAft>
            </a:pPr>
            <a:r>
              <a:rPr lang="en-US" altLang="en-US" sz="2000" b="1" dirty="0">
                <a:latin typeface="Arial" panose="020B0604020202020204" pitchFamily="34" charset="0"/>
              </a:rPr>
              <a:t> </a:t>
            </a:r>
          </a:p>
          <a:p>
            <a:pPr lvl="0" eaLnBrk="0" fontAlgn="base" hangingPunct="0">
              <a:spcBef>
                <a:spcPct val="0"/>
              </a:spcBef>
              <a:spcAft>
                <a:spcPct val="0"/>
              </a:spcAft>
              <a:buFontTx/>
              <a:buChar char="•"/>
            </a:pPr>
            <a:r>
              <a:rPr lang="en-US" altLang="en-US" sz="2000" b="1" dirty="0">
                <a:latin typeface="Arial" panose="020B0604020202020204" pitchFamily="34" charset="0"/>
              </a:rPr>
              <a:t>It is difficult to identify accident-prone locations and peak accident times. </a:t>
            </a:r>
          </a:p>
          <a:p>
            <a:pPr lvl="0" eaLnBrk="0" fontAlgn="base" hangingPunct="0">
              <a:spcBef>
                <a:spcPct val="0"/>
              </a:spcBef>
              <a:spcAft>
                <a:spcPct val="0"/>
              </a:spcAft>
              <a:buFontTx/>
              <a:buChar char="•"/>
            </a:pPr>
            <a:endParaRPr lang="en-US" altLang="en-US" sz="2000" b="1" dirty="0">
              <a:latin typeface="Arial" panose="020B0604020202020204" pitchFamily="34" charset="0"/>
            </a:endParaRPr>
          </a:p>
          <a:p>
            <a:pPr lvl="0" eaLnBrk="0" fontAlgn="base" hangingPunct="0">
              <a:spcBef>
                <a:spcPct val="0"/>
              </a:spcBef>
              <a:spcAft>
                <a:spcPct val="0"/>
              </a:spcAft>
              <a:buFontTx/>
              <a:buChar char="•"/>
            </a:pPr>
            <a:r>
              <a:rPr lang="en-US" altLang="en-US" sz="2000" b="1" dirty="0">
                <a:latin typeface="Arial" panose="020B0604020202020204" pitchFamily="34" charset="0"/>
              </a:rPr>
              <a:t>Key factors like weather, road type, and traffic conditions affect accidents. </a:t>
            </a:r>
          </a:p>
          <a:p>
            <a:pPr lvl="0" eaLnBrk="0" fontAlgn="base" hangingPunct="0">
              <a:spcBef>
                <a:spcPct val="0"/>
              </a:spcBef>
              <a:spcAft>
                <a:spcPct val="0"/>
              </a:spcAft>
              <a:buFontTx/>
              <a:buChar char="•"/>
            </a:pPr>
            <a:endParaRPr lang="en-US" altLang="en-US" sz="2000" b="1" dirty="0">
              <a:latin typeface="Arial" panose="020B0604020202020204" pitchFamily="34" charset="0"/>
            </a:endParaRPr>
          </a:p>
          <a:p>
            <a:pPr lvl="0" eaLnBrk="0" fontAlgn="base" hangingPunct="0">
              <a:spcBef>
                <a:spcPct val="0"/>
              </a:spcBef>
              <a:spcAft>
                <a:spcPct val="0"/>
              </a:spcAft>
              <a:buFontTx/>
              <a:buChar char="•"/>
            </a:pPr>
            <a:r>
              <a:rPr lang="en-US" altLang="en-US" sz="2000" b="1" dirty="0">
                <a:latin typeface="Arial" panose="020B0604020202020204" pitchFamily="34" charset="0"/>
              </a:rPr>
              <a:t>There is a need to analyze accident data to find patterns and trends. </a:t>
            </a:r>
          </a:p>
          <a:p>
            <a:pPr lvl="0" eaLnBrk="0" fontAlgn="base" hangingPunct="0">
              <a:spcBef>
                <a:spcPct val="0"/>
              </a:spcBef>
              <a:spcAft>
                <a:spcPct val="0"/>
              </a:spcAft>
            </a:pPr>
            <a:endParaRPr lang="en-US" altLang="en-US" sz="2000" b="1" dirty="0">
              <a:latin typeface="Arial" panose="020B0604020202020204" pitchFamily="34" charset="0"/>
            </a:endParaRPr>
          </a:p>
          <a:p>
            <a:pPr lvl="0" eaLnBrk="0" fontAlgn="base" hangingPunct="0">
              <a:spcBef>
                <a:spcPct val="0"/>
              </a:spcBef>
              <a:spcAft>
                <a:spcPct val="0"/>
              </a:spcAft>
              <a:buFontTx/>
              <a:buChar char="•"/>
            </a:pPr>
            <a:r>
              <a:rPr lang="en-US" altLang="en-US" sz="2000" b="1" dirty="0">
                <a:latin typeface="Arial" panose="020B0604020202020204" pitchFamily="34" charset="0"/>
              </a:rPr>
              <a:t>The insights can help improve road safety and support better decision-making</a:t>
            </a:r>
            <a:r>
              <a:rPr lang="en-US" altLang="en-US" dirty="0">
                <a:latin typeface="Arial" panose="020B0604020202020204" pitchFamily="34" charset="0"/>
              </a:rPr>
              <a:t>. </a:t>
            </a:r>
          </a:p>
          <a:p>
            <a:endParaRPr lang="en-IN" dirty="0"/>
          </a:p>
        </p:txBody>
      </p:sp>
    </p:spTree>
    <p:extLst>
      <p:ext uri="{BB962C8B-B14F-4D97-AF65-F5344CB8AC3E}">
        <p14:creationId xmlns:p14="http://schemas.microsoft.com/office/powerpoint/2010/main" val="692051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1" name="Google Shape;391;p19"/>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GB" sz="4000" b="1" dirty="0">
                <a:solidFill>
                  <a:srgbClr val="FFFFFF"/>
                </a:solidFill>
                <a:latin typeface="Roboto"/>
                <a:ea typeface="Roboto"/>
                <a:cs typeface="Roboto"/>
                <a:sym typeface="Roboto"/>
              </a:rPr>
              <a:t>About the Data</a:t>
            </a:r>
            <a:endParaRPr sz="4000" b="1" dirty="0">
              <a:solidFill>
                <a:srgbClr val="FFFFFF"/>
              </a:solidFill>
              <a:latin typeface="Roboto"/>
              <a:ea typeface="Roboto"/>
              <a:cs typeface="Roboto"/>
              <a:sym typeface="Roboto"/>
            </a:endParaRPr>
          </a:p>
        </p:txBody>
      </p:sp>
      <p:sp>
        <p:nvSpPr>
          <p:cNvPr id="392" name="Google Shape;392;p19"/>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93" name="Google Shape;393;p19"/>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2" name="TextBox 1">
            <a:extLst>
              <a:ext uri="{FF2B5EF4-FFF2-40B4-BE49-F238E27FC236}">
                <a16:creationId xmlns:a16="http://schemas.microsoft.com/office/drawing/2014/main" id="{31D4E29B-816C-BBA1-DA25-00A39B70E604}"/>
              </a:ext>
            </a:extLst>
          </p:cNvPr>
          <p:cNvSpPr txBox="1"/>
          <p:nvPr/>
        </p:nvSpPr>
        <p:spPr>
          <a:xfrm>
            <a:off x="730680" y="1341429"/>
            <a:ext cx="9571560" cy="2523768"/>
          </a:xfrm>
          <a:prstGeom prst="rect">
            <a:avLst/>
          </a:prstGeom>
          <a:noFill/>
        </p:spPr>
        <p:txBody>
          <a:bodyPr wrap="square" rtlCol="0">
            <a:spAutoFit/>
          </a:bodyPr>
          <a:lstStyle/>
          <a:p>
            <a:r>
              <a:rPr lang="en-US" sz="2000" b="1" dirty="0"/>
              <a:t>The dataset was downloaded from Kaggle and initially contained approximately 2 lakh records and 47 columns.</a:t>
            </a:r>
          </a:p>
          <a:p>
            <a:endParaRPr lang="en-US" sz="2000" b="1" dirty="0"/>
          </a:p>
          <a:p>
            <a:r>
              <a:rPr lang="en-US" sz="2000" b="1" dirty="0"/>
              <a:t>After data cleaning, the dataset was reduced to 199,320 rows and 21 columns by removing unwanted columns.</a:t>
            </a:r>
          </a:p>
          <a:p>
            <a:endParaRPr lang="en-US" sz="2000" b="1" dirty="0"/>
          </a:p>
          <a:p>
            <a:r>
              <a:rPr lang="en-US" sz="2000" b="1" dirty="0"/>
              <a:t>The cleaned dataset was used for further analysis.</a:t>
            </a:r>
          </a:p>
          <a:p>
            <a:endParaRPr lang="en-IN" dirty="0"/>
          </a:p>
        </p:txBody>
      </p:sp>
    </p:spTree>
    <p:extLst>
      <p:ext uri="{BB962C8B-B14F-4D97-AF65-F5344CB8AC3E}">
        <p14:creationId xmlns:p14="http://schemas.microsoft.com/office/powerpoint/2010/main" val="3078855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1" name="Google Shape;351;p15"/>
          <p:cNvSpPr txBox="1">
            <a:spLocks noGrp="1"/>
          </p:cNvSpPr>
          <p:nvPr>
            <p:ph type="ctrTitle"/>
          </p:nvPr>
        </p:nvSpPr>
        <p:spPr>
          <a:xfrm>
            <a:off x="0" y="79389"/>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Tools &amp; Techniques</a:t>
            </a:r>
            <a:endParaRPr sz="4000" b="1" dirty="0">
              <a:solidFill>
                <a:srgbClr val="FFFFFF"/>
              </a:solidFill>
              <a:latin typeface="Roboto"/>
              <a:ea typeface="Roboto"/>
              <a:cs typeface="Roboto"/>
              <a:sym typeface="Roboto"/>
            </a:endParaRPr>
          </a:p>
        </p:txBody>
      </p:sp>
      <p:sp>
        <p:nvSpPr>
          <p:cNvPr id="352" name="Google Shape;352;p15"/>
          <p:cNvSpPr txBox="1"/>
          <p:nvPr/>
        </p:nvSpPr>
        <p:spPr>
          <a:xfrm>
            <a:off x="0" y="1069600"/>
            <a:ext cx="12192000" cy="5331200"/>
          </a:xfrm>
          <a:prstGeom prst="rect">
            <a:avLst/>
          </a:prstGeom>
          <a:noFill/>
          <a:ln>
            <a:noFill/>
          </a:ln>
        </p:spPr>
        <p:txBody>
          <a:bodyPr spcFirstLastPara="1" wrap="square" lIns="365733" tIns="365733" rIns="365733" bIns="365733" anchor="t" anchorCtr="0">
            <a:noAutofit/>
          </a:bodyPr>
          <a:lstStyle/>
          <a:p>
            <a:pPr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53" name="Google Shape;353;p15"/>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54" name="Google Shape;354;p15"/>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55" name="Google Shape;355;p15"/>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 name="TextBox 2">
            <a:extLst>
              <a:ext uri="{FF2B5EF4-FFF2-40B4-BE49-F238E27FC236}">
                <a16:creationId xmlns:a16="http://schemas.microsoft.com/office/drawing/2014/main" id="{271A3C63-73FB-773B-A2AB-5D4DA8453C13}"/>
              </a:ext>
            </a:extLst>
          </p:cNvPr>
          <p:cNvSpPr txBox="1"/>
          <p:nvPr/>
        </p:nvSpPr>
        <p:spPr>
          <a:xfrm>
            <a:off x="721360" y="1479679"/>
            <a:ext cx="8483600" cy="3108543"/>
          </a:xfrm>
          <a:prstGeom prst="rect">
            <a:avLst/>
          </a:prstGeom>
          <a:noFill/>
        </p:spPr>
        <p:txBody>
          <a:bodyPr wrap="square" rtlCol="0">
            <a:spAutoFit/>
          </a:bodyPr>
          <a:lstStyle/>
          <a:p>
            <a:r>
              <a:rPr lang="en-IN" sz="2000" b="1" dirty="0"/>
              <a:t>Excel: Data cleaning, duplicate removal, missing value handling </a:t>
            </a:r>
          </a:p>
          <a:p>
            <a:endParaRPr lang="en-IN" sz="2000" b="1" dirty="0"/>
          </a:p>
          <a:p>
            <a:r>
              <a:rPr lang="en-IN" sz="2000" b="1" dirty="0"/>
              <a:t>SQL: Data querying and aggregation using SELECT, GROUP BY, JOIN </a:t>
            </a:r>
          </a:p>
          <a:p>
            <a:endParaRPr lang="en-IN" sz="2000" b="1" dirty="0"/>
          </a:p>
          <a:p>
            <a:r>
              <a:rPr lang="en-IN" sz="2000" b="1" dirty="0"/>
              <a:t>Python (Pandas, Matplotlib, Seaborn): Data analysis, visualization, and pattern detection</a:t>
            </a:r>
          </a:p>
          <a:p>
            <a:r>
              <a:rPr lang="en-IN" sz="2000" dirty="0"/>
              <a:t> </a:t>
            </a:r>
          </a:p>
          <a:p>
            <a:r>
              <a:rPr lang="en-IN" sz="2000" b="1" dirty="0"/>
              <a:t>Power BI:</a:t>
            </a:r>
            <a:r>
              <a:rPr lang="en-IN" sz="2000" dirty="0"/>
              <a:t> </a:t>
            </a:r>
            <a:r>
              <a:rPr lang="en-IN" sz="2000" b="1" dirty="0"/>
              <a:t>Dashboard creation and data visualization using DAX measures</a:t>
            </a:r>
          </a:p>
          <a:p>
            <a:endParaRPr lang="en-US" dirty="0"/>
          </a:p>
          <a:p>
            <a:endParaRPr lang="en-US" dirty="0"/>
          </a:p>
        </p:txBody>
      </p:sp>
    </p:spTree>
    <p:extLst>
      <p:ext uri="{BB962C8B-B14F-4D97-AF65-F5344CB8AC3E}">
        <p14:creationId xmlns:p14="http://schemas.microsoft.com/office/powerpoint/2010/main" val="3499812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9">
          <a:extLst>
            <a:ext uri="{FF2B5EF4-FFF2-40B4-BE49-F238E27FC236}">
              <a16:creationId xmlns:a16="http://schemas.microsoft.com/office/drawing/2014/main" id="{50A48ABA-2DAA-B3EB-DBA5-E997C35F74A7}"/>
            </a:ext>
          </a:extLst>
        </p:cNvPr>
        <p:cNvGrpSpPr/>
        <p:nvPr/>
      </p:nvGrpSpPr>
      <p:grpSpPr>
        <a:xfrm>
          <a:off x="0" y="0"/>
          <a:ext cx="0" cy="0"/>
          <a:chOff x="0" y="0"/>
          <a:chExt cx="0" cy="0"/>
        </a:xfrm>
      </p:grpSpPr>
      <p:sp>
        <p:nvSpPr>
          <p:cNvPr id="351" name="Google Shape;351;p15">
            <a:extLst>
              <a:ext uri="{FF2B5EF4-FFF2-40B4-BE49-F238E27FC236}">
                <a16:creationId xmlns:a16="http://schemas.microsoft.com/office/drawing/2014/main" id="{53F66E9B-9688-5B08-D7E1-443E5386AB22}"/>
              </a:ext>
            </a:extLst>
          </p:cNvPr>
          <p:cNvSpPr txBox="1">
            <a:spLocks noGrp="1"/>
          </p:cNvSpPr>
          <p:nvPr>
            <p:ph type="ctrTitle"/>
          </p:nvPr>
        </p:nvSpPr>
        <p:spPr>
          <a:xfrm>
            <a:off x="13400" y="9640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ER Diagram</a:t>
            </a:r>
            <a:endParaRPr sz="4000" b="1" dirty="0">
              <a:solidFill>
                <a:srgbClr val="FFFFFF"/>
              </a:solidFill>
              <a:latin typeface="Roboto"/>
              <a:ea typeface="Roboto"/>
              <a:cs typeface="Roboto"/>
              <a:sym typeface="Roboto"/>
            </a:endParaRPr>
          </a:p>
        </p:txBody>
      </p:sp>
      <p:sp>
        <p:nvSpPr>
          <p:cNvPr id="352" name="Google Shape;352;p15">
            <a:extLst>
              <a:ext uri="{FF2B5EF4-FFF2-40B4-BE49-F238E27FC236}">
                <a16:creationId xmlns:a16="http://schemas.microsoft.com/office/drawing/2014/main" id="{8F476E84-236A-0315-ABFE-9EA32016337E}"/>
              </a:ext>
            </a:extLst>
          </p:cNvPr>
          <p:cNvSpPr txBox="1"/>
          <p:nvPr/>
        </p:nvSpPr>
        <p:spPr>
          <a:xfrm>
            <a:off x="0" y="1069600"/>
            <a:ext cx="12192000" cy="5331200"/>
          </a:xfrm>
          <a:prstGeom prst="rect">
            <a:avLst/>
          </a:prstGeom>
          <a:noFill/>
          <a:ln>
            <a:noFill/>
          </a:ln>
        </p:spPr>
        <p:txBody>
          <a:bodyPr spcFirstLastPara="1" wrap="square" lIns="365733" tIns="365733" rIns="365733" bIns="365733" anchor="t" anchorCtr="0">
            <a:noAutofit/>
          </a:bodyPr>
          <a:lstStyle/>
          <a:p>
            <a:pPr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53" name="Google Shape;353;p15">
            <a:extLst>
              <a:ext uri="{FF2B5EF4-FFF2-40B4-BE49-F238E27FC236}">
                <a16:creationId xmlns:a16="http://schemas.microsoft.com/office/drawing/2014/main" id="{6E1C9D16-27C0-5205-FC44-0441BECC7884}"/>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54" name="Google Shape;354;p15">
            <a:extLst>
              <a:ext uri="{FF2B5EF4-FFF2-40B4-BE49-F238E27FC236}">
                <a16:creationId xmlns:a16="http://schemas.microsoft.com/office/drawing/2014/main" id="{2938E1AA-7B05-6CF4-F413-90AEBBE8E34C}"/>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55" name="Google Shape;355;p15">
            <a:extLst>
              <a:ext uri="{FF2B5EF4-FFF2-40B4-BE49-F238E27FC236}">
                <a16:creationId xmlns:a16="http://schemas.microsoft.com/office/drawing/2014/main" id="{49614F2C-0002-8041-B198-AE1D3A0F30D4}"/>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pic>
        <p:nvPicPr>
          <p:cNvPr id="3" name="Picture 2">
            <a:extLst>
              <a:ext uri="{FF2B5EF4-FFF2-40B4-BE49-F238E27FC236}">
                <a16:creationId xmlns:a16="http://schemas.microsoft.com/office/drawing/2014/main" id="{0AD814EE-8F68-B2AE-57F8-54633DBCB8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440" y="1270677"/>
            <a:ext cx="10775120" cy="4946056"/>
          </a:xfrm>
          <a:prstGeom prst="rect">
            <a:avLst/>
          </a:prstGeom>
        </p:spPr>
      </p:pic>
    </p:spTree>
    <p:extLst>
      <p:ext uri="{BB962C8B-B14F-4D97-AF65-F5344CB8AC3E}">
        <p14:creationId xmlns:p14="http://schemas.microsoft.com/office/powerpoint/2010/main" val="1409546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9">
          <a:extLst>
            <a:ext uri="{FF2B5EF4-FFF2-40B4-BE49-F238E27FC236}">
              <a16:creationId xmlns:a16="http://schemas.microsoft.com/office/drawing/2014/main" id="{6F7E9C66-C60A-2122-79E9-7E813D7E52B1}"/>
            </a:ext>
          </a:extLst>
        </p:cNvPr>
        <p:cNvGrpSpPr/>
        <p:nvPr/>
      </p:nvGrpSpPr>
      <p:grpSpPr>
        <a:xfrm>
          <a:off x="0" y="0"/>
          <a:ext cx="0" cy="0"/>
          <a:chOff x="0" y="0"/>
          <a:chExt cx="0" cy="0"/>
        </a:xfrm>
      </p:grpSpPr>
      <p:sp>
        <p:nvSpPr>
          <p:cNvPr id="351" name="Google Shape;351;p15">
            <a:extLst>
              <a:ext uri="{FF2B5EF4-FFF2-40B4-BE49-F238E27FC236}">
                <a16:creationId xmlns:a16="http://schemas.microsoft.com/office/drawing/2014/main" id="{58187BC4-BA11-000D-B972-37F77C636AB4}"/>
              </a:ext>
            </a:extLst>
          </p:cNvPr>
          <p:cNvSpPr txBox="1">
            <a:spLocks noGrp="1"/>
          </p:cNvSpPr>
          <p:nvPr>
            <p:ph type="ctrTitle"/>
          </p:nvPr>
        </p:nvSpPr>
        <p:spPr>
          <a:xfrm>
            <a:off x="0" y="79389"/>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SQL-Based Data Insights</a:t>
            </a:r>
            <a:endParaRPr sz="4000" b="1" dirty="0">
              <a:solidFill>
                <a:srgbClr val="FFFFFF"/>
              </a:solidFill>
              <a:latin typeface="Roboto"/>
              <a:ea typeface="Roboto"/>
              <a:cs typeface="Roboto"/>
              <a:sym typeface="Roboto"/>
            </a:endParaRPr>
          </a:p>
        </p:txBody>
      </p:sp>
      <p:sp>
        <p:nvSpPr>
          <p:cNvPr id="352" name="Google Shape;352;p15">
            <a:extLst>
              <a:ext uri="{FF2B5EF4-FFF2-40B4-BE49-F238E27FC236}">
                <a16:creationId xmlns:a16="http://schemas.microsoft.com/office/drawing/2014/main" id="{6503C4C7-E696-DE6B-A5D5-99D298CE1DB6}"/>
              </a:ext>
            </a:extLst>
          </p:cNvPr>
          <p:cNvSpPr txBox="1"/>
          <p:nvPr/>
        </p:nvSpPr>
        <p:spPr>
          <a:xfrm>
            <a:off x="37960" y="1069600"/>
            <a:ext cx="12192000" cy="5331199"/>
          </a:xfrm>
          <a:prstGeom prst="rect">
            <a:avLst/>
          </a:prstGeom>
          <a:noFill/>
          <a:ln>
            <a:noFill/>
          </a:ln>
        </p:spPr>
        <p:txBody>
          <a:bodyPr spcFirstLastPara="1" wrap="square" lIns="365733" tIns="365733" rIns="365733" bIns="365733" anchor="t" anchorCtr="0">
            <a:noAutofit/>
          </a:bodyPr>
          <a:lstStyle/>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endParaRPr sz="2667" dirty="0">
              <a:solidFill>
                <a:schemeClr val="dk1"/>
              </a:solidFill>
              <a:latin typeface="Roboto"/>
              <a:ea typeface="Roboto"/>
              <a:cs typeface="Roboto"/>
              <a:sym typeface="Roboto"/>
            </a:endParaRPr>
          </a:p>
        </p:txBody>
      </p:sp>
      <p:sp>
        <p:nvSpPr>
          <p:cNvPr id="353" name="Google Shape;353;p15">
            <a:extLst>
              <a:ext uri="{FF2B5EF4-FFF2-40B4-BE49-F238E27FC236}">
                <a16:creationId xmlns:a16="http://schemas.microsoft.com/office/drawing/2014/main" id="{08DC1202-68FE-1EBB-334C-7169E152A5EE}"/>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54" name="Google Shape;354;p15">
            <a:extLst>
              <a:ext uri="{FF2B5EF4-FFF2-40B4-BE49-F238E27FC236}">
                <a16:creationId xmlns:a16="http://schemas.microsoft.com/office/drawing/2014/main" id="{F804AD69-7E5B-4A2B-03F8-EC77C0F4BAE9}"/>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55" name="Google Shape;355;p15">
            <a:extLst>
              <a:ext uri="{FF2B5EF4-FFF2-40B4-BE49-F238E27FC236}">
                <a16:creationId xmlns:a16="http://schemas.microsoft.com/office/drawing/2014/main" id="{41AD5E92-96D4-54ED-E2A2-C8DFAA42ECB9}"/>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4" name="TextBox 3">
            <a:extLst>
              <a:ext uri="{FF2B5EF4-FFF2-40B4-BE49-F238E27FC236}">
                <a16:creationId xmlns:a16="http://schemas.microsoft.com/office/drawing/2014/main" id="{D1BE226A-65D9-CFB8-35B6-851BEF73DD04}"/>
              </a:ext>
            </a:extLst>
          </p:cNvPr>
          <p:cNvSpPr txBox="1"/>
          <p:nvPr/>
        </p:nvSpPr>
        <p:spPr>
          <a:xfrm>
            <a:off x="217600" y="1253666"/>
            <a:ext cx="5916360" cy="430887"/>
          </a:xfrm>
          <a:prstGeom prst="rect">
            <a:avLst/>
          </a:prstGeom>
          <a:noFill/>
        </p:spPr>
        <p:txBody>
          <a:bodyPr wrap="square" rtlCol="0">
            <a:spAutoFit/>
          </a:bodyPr>
          <a:lstStyle/>
          <a:p>
            <a:r>
              <a:rPr lang="en-US" sz="2200" b="1" dirty="0"/>
              <a:t>Which cities have highest accident counts?</a:t>
            </a:r>
            <a:endParaRPr lang="en-IN" sz="2200" b="1" dirty="0"/>
          </a:p>
        </p:txBody>
      </p:sp>
      <p:sp>
        <p:nvSpPr>
          <p:cNvPr id="6" name="TextBox 5">
            <a:extLst>
              <a:ext uri="{FF2B5EF4-FFF2-40B4-BE49-F238E27FC236}">
                <a16:creationId xmlns:a16="http://schemas.microsoft.com/office/drawing/2014/main" id="{141B4D35-E0F0-307C-A7F2-C2DE646470FE}"/>
              </a:ext>
            </a:extLst>
          </p:cNvPr>
          <p:cNvSpPr txBox="1"/>
          <p:nvPr/>
        </p:nvSpPr>
        <p:spPr>
          <a:xfrm>
            <a:off x="6979920" y="1900051"/>
            <a:ext cx="4947920" cy="1200329"/>
          </a:xfrm>
          <a:prstGeom prst="rect">
            <a:avLst/>
          </a:prstGeom>
          <a:noFill/>
        </p:spPr>
        <p:txBody>
          <a:bodyPr wrap="square" rtlCol="0">
            <a:spAutoFit/>
          </a:bodyPr>
          <a:lstStyle/>
          <a:p>
            <a:r>
              <a:rPr lang="en-US" b="1" dirty="0"/>
              <a:t>SELECT L.CITY, COUNT(A.ID) AS ACCIDENT_COUNT FROM ACCIDENT A INNER JOIN LOCATION L ON A.ID= L.ID GROUP BY L.CITY ORDER BY COUNT(A.ID) DESC LIMIT 5;</a:t>
            </a:r>
            <a:endParaRPr lang="en-IN" b="1" dirty="0"/>
          </a:p>
        </p:txBody>
      </p:sp>
      <p:pic>
        <p:nvPicPr>
          <p:cNvPr id="8" name="Picture 7">
            <a:extLst>
              <a:ext uri="{FF2B5EF4-FFF2-40B4-BE49-F238E27FC236}">
                <a16:creationId xmlns:a16="http://schemas.microsoft.com/office/drawing/2014/main" id="{2EF1996C-F4D2-6165-508E-16CFEDAB80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9920" y="3429000"/>
            <a:ext cx="4874480" cy="2707639"/>
          </a:xfrm>
          <a:prstGeom prst="rect">
            <a:avLst/>
          </a:prstGeom>
        </p:spPr>
      </p:pic>
      <p:sp>
        <p:nvSpPr>
          <p:cNvPr id="12" name="TextBox 11">
            <a:extLst>
              <a:ext uri="{FF2B5EF4-FFF2-40B4-BE49-F238E27FC236}">
                <a16:creationId xmlns:a16="http://schemas.microsoft.com/office/drawing/2014/main" id="{EB29524D-9F4E-CCF8-D03D-2401728BA83D}"/>
              </a:ext>
            </a:extLst>
          </p:cNvPr>
          <p:cNvSpPr txBox="1"/>
          <p:nvPr/>
        </p:nvSpPr>
        <p:spPr>
          <a:xfrm>
            <a:off x="217600" y="1981200"/>
            <a:ext cx="3399360" cy="523220"/>
          </a:xfrm>
          <a:prstGeom prst="rect">
            <a:avLst/>
          </a:prstGeom>
          <a:noFill/>
        </p:spPr>
        <p:txBody>
          <a:bodyPr wrap="square" rtlCol="0">
            <a:spAutoFit/>
          </a:bodyPr>
          <a:lstStyle/>
          <a:p>
            <a:r>
              <a:rPr lang="en-IN" sz="2800" b="1" dirty="0"/>
              <a:t>Explanation:</a:t>
            </a:r>
          </a:p>
        </p:txBody>
      </p:sp>
      <p:sp>
        <p:nvSpPr>
          <p:cNvPr id="13" name="TextBox 12">
            <a:extLst>
              <a:ext uri="{FF2B5EF4-FFF2-40B4-BE49-F238E27FC236}">
                <a16:creationId xmlns:a16="http://schemas.microsoft.com/office/drawing/2014/main" id="{3A220D23-F3D8-5ACC-0676-F14835637839}"/>
              </a:ext>
            </a:extLst>
          </p:cNvPr>
          <p:cNvSpPr txBox="1"/>
          <p:nvPr/>
        </p:nvSpPr>
        <p:spPr>
          <a:xfrm>
            <a:off x="214260" y="3799042"/>
            <a:ext cx="2901520" cy="523220"/>
          </a:xfrm>
          <a:prstGeom prst="rect">
            <a:avLst/>
          </a:prstGeom>
          <a:noFill/>
        </p:spPr>
        <p:txBody>
          <a:bodyPr wrap="square" rtlCol="0">
            <a:spAutoFit/>
          </a:bodyPr>
          <a:lstStyle/>
          <a:p>
            <a:r>
              <a:rPr lang="en-IN" sz="2800" b="1" dirty="0"/>
              <a:t>Solution:</a:t>
            </a:r>
          </a:p>
        </p:txBody>
      </p:sp>
      <p:sp>
        <p:nvSpPr>
          <p:cNvPr id="14" name="TextBox 13">
            <a:extLst>
              <a:ext uri="{FF2B5EF4-FFF2-40B4-BE49-F238E27FC236}">
                <a16:creationId xmlns:a16="http://schemas.microsoft.com/office/drawing/2014/main" id="{9BC3FCE2-A2CC-82D7-F1D0-CD78E14A7834}"/>
              </a:ext>
            </a:extLst>
          </p:cNvPr>
          <p:cNvSpPr txBox="1"/>
          <p:nvPr/>
        </p:nvSpPr>
        <p:spPr>
          <a:xfrm>
            <a:off x="217600" y="2449410"/>
            <a:ext cx="5796360" cy="1015663"/>
          </a:xfrm>
          <a:prstGeom prst="rect">
            <a:avLst/>
          </a:prstGeom>
          <a:noFill/>
        </p:spPr>
        <p:txBody>
          <a:bodyPr wrap="square" rtlCol="0">
            <a:spAutoFit/>
          </a:bodyPr>
          <a:lstStyle/>
          <a:p>
            <a:r>
              <a:rPr lang="en-US" sz="2000" dirty="0"/>
              <a:t>This analysis finds cities with the highest number of accidents by counting accidents per city using joined accident and location data.</a:t>
            </a:r>
          </a:p>
        </p:txBody>
      </p:sp>
      <p:sp>
        <p:nvSpPr>
          <p:cNvPr id="15" name="TextBox 14">
            <a:extLst>
              <a:ext uri="{FF2B5EF4-FFF2-40B4-BE49-F238E27FC236}">
                <a16:creationId xmlns:a16="http://schemas.microsoft.com/office/drawing/2014/main" id="{DEF3E60A-E159-6746-A2AD-E65C4AFB61C6}"/>
              </a:ext>
            </a:extLst>
          </p:cNvPr>
          <p:cNvSpPr txBox="1"/>
          <p:nvPr/>
        </p:nvSpPr>
        <p:spPr>
          <a:xfrm>
            <a:off x="5679440" y="2971800"/>
            <a:ext cx="914400" cy="914400"/>
          </a:xfrm>
          <a:prstGeom prst="rect">
            <a:avLst/>
          </a:prstGeom>
          <a:noFill/>
        </p:spPr>
        <p:txBody>
          <a:bodyPr wrap="square" rtlCol="0">
            <a:spAutoFit/>
          </a:bodyPr>
          <a:lstStyle/>
          <a:p>
            <a:endParaRPr lang="en-IN" dirty="0"/>
          </a:p>
        </p:txBody>
      </p:sp>
      <p:sp>
        <p:nvSpPr>
          <p:cNvPr id="16" name="TextBox 15">
            <a:extLst>
              <a:ext uri="{FF2B5EF4-FFF2-40B4-BE49-F238E27FC236}">
                <a16:creationId xmlns:a16="http://schemas.microsoft.com/office/drawing/2014/main" id="{F2212AAE-C7CC-2EBF-0472-A7B81487888F}"/>
              </a:ext>
            </a:extLst>
          </p:cNvPr>
          <p:cNvSpPr txBox="1"/>
          <p:nvPr/>
        </p:nvSpPr>
        <p:spPr>
          <a:xfrm>
            <a:off x="5654040" y="2971800"/>
            <a:ext cx="914400" cy="914400"/>
          </a:xfrm>
          <a:prstGeom prst="rect">
            <a:avLst/>
          </a:prstGeom>
          <a:noFill/>
        </p:spPr>
        <p:txBody>
          <a:bodyPr wrap="square" rtlCol="0">
            <a:spAutoFit/>
          </a:bodyPr>
          <a:lstStyle/>
          <a:p>
            <a:endParaRPr lang="en-IN" dirty="0"/>
          </a:p>
        </p:txBody>
      </p:sp>
      <p:sp>
        <p:nvSpPr>
          <p:cNvPr id="19" name="TextBox 18">
            <a:extLst>
              <a:ext uri="{FF2B5EF4-FFF2-40B4-BE49-F238E27FC236}">
                <a16:creationId xmlns:a16="http://schemas.microsoft.com/office/drawing/2014/main" id="{39DB9735-0B4B-E038-8073-2CB3149A57ED}"/>
              </a:ext>
            </a:extLst>
          </p:cNvPr>
          <p:cNvSpPr txBox="1"/>
          <p:nvPr/>
        </p:nvSpPr>
        <p:spPr>
          <a:xfrm>
            <a:off x="214260" y="4332770"/>
            <a:ext cx="5919700" cy="1015663"/>
          </a:xfrm>
          <a:prstGeom prst="rect">
            <a:avLst/>
          </a:prstGeom>
          <a:noFill/>
        </p:spPr>
        <p:txBody>
          <a:bodyPr wrap="square" rtlCol="0">
            <a:spAutoFit/>
          </a:bodyPr>
          <a:lstStyle/>
          <a:p>
            <a:r>
              <a:rPr lang="en-US" sz="2000" dirty="0"/>
              <a:t>These cities have the highest accident counts, so they should be prioritized for further investigation and safety planning based on data insights</a:t>
            </a:r>
            <a:endParaRPr lang="en-IN" sz="2000" dirty="0"/>
          </a:p>
        </p:txBody>
      </p:sp>
    </p:spTree>
    <p:extLst>
      <p:ext uri="{BB962C8B-B14F-4D97-AF65-F5344CB8AC3E}">
        <p14:creationId xmlns:p14="http://schemas.microsoft.com/office/powerpoint/2010/main" val="960824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9">
          <a:extLst>
            <a:ext uri="{FF2B5EF4-FFF2-40B4-BE49-F238E27FC236}">
              <a16:creationId xmlns:a16="http://schemas.microsoft.com/office/drawing/2014/main" id="{854EE16D-E91B-3BC1-AECC-355D4E852465}"/>
            </a:ext>
          </a:extLst>
        </p:cNvPr>
        <p:cNvGrpSpPr/>
        <p:nvPr/>
      </p:nvGrpSpPr>
      <p:grpSpPr>
        <a:xfrm>
          <a:off x="0" y="0"/>
          <a:ext cx="0" cy="0"/>
          <a:chOff x="0" y="0"/>
          <a:chExt cx="0" cy="0"/>
        </a:xfrm>
      </p:grpSpPr>
      <p:sp>
        <p:nvSpPr>
          <p:cNvPr id="351" name="Google Shape;351;p15">
            <a:extLst>
              <a:ext uri="{FF2B5EF4-FFF2-40B4-BE49-F238E27FC236}">
                <a16:creationId xmlns:a16="http://schemas.microsoft.com/office/drawing/2014/main" id="{7F4284A5-3F48-3A75-6785-A4B862F82D7D}"/>
              </a:ext>
            </a:extLst>
          </p:cNvPr>
          <p:cNvSpPr txBox="1">
            <a:spLocks noGrp="1"/>
          </p:cNvSpPr>
          <p:nvPr>
            <p:ph type="ctrTitle"/>
          </p:nvPr>
        </p:nvSpPr>
        <p:spPr>
          <a:xfrm>
            <a:off x="0" y="79389"/>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SQL-Based Data Insights</a:t>
            </a:r>
            <a:endParaRPr sz="4000" b="1" dirty="0">
              <a:solidFill>
                <a:srgbClr val="FFFFFF"/>
              </a:solidFill>
              <a:latin typeface="Roboto"/>
              <a:ea typeface="Roboto"/>
              <a:cs typeface="Roboto"/>
              <a:sym typeface="Roboto"/>
            </a:endParaRPr>
          </a:p>
        </p:txBody>
      </p:sp>
      <p:sp>
        <p:nvSpPr>
          <p:cNvPr id="352" name="Google Shape;352;p15">
            <a:extLst>
              <a:ext uri="{FF2B5EF4-FFF2-40B4-BE49-F238E27FC236}">
                <a16:creationId xmlns:a16="http://schemas.microsoft.com/office/drawing/2014/main" id="{ADBAD0EE-2E64-8011-B97F-B9F70007FDE9}"/>
              </a:ext>
            </a:extLst>
          </p:cNvPr>
          <p:cNvSpPr txBox="1"/>
          <p:nvPr/>
        </p:nvSpPr>
        <p:spPr>
          <a:xfrm>
            <a:off x="37960" y="1133442"/>
            <a:ext cx="12192000" cy="5331199"/>
          </a:xfrm>
          <a:prstGeom prst="rect">
            <a:avLst/>
          </a:prstGeom>
          <a:noFill/>
          <a:ln>
            <a:noFill/>
          </a:ln>
        </p:spPr>
        <p:txBody>
          <a:bodyPr spcFirstLastPara="1" wrap="square" lIns="365733" tIns="365733" rIns="365733" bIns="365733" anchor="t" anchorCtr="0">
            <a:noAutofit/>
          </a:bodyPr>
          <a:lstStyle/>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endParaRPr sz="2667" dirty="0">
              <a:solidFill>
                <a:schemeClr val="dk1"/>
              </a:solidFill>
              <a:latin typeface="Roboto"/>
              <a:ea typeface="Roboto"/>
              <a:cs typeface="Roboto"/>
              <a:sym typeface="Roboto"/>
            </a:endParaRPr>
          </a:p>
        </p:txBody>
      </p:sp>
      <p:sp>
        <p:nvSpPr>
          <p:cNvPr id="353" name="Google Shape;353;p15">
            <a:extLst>
              <a:ext uri="{FF2B5EF4-FFF2-40B4-BE49-F238E27FC236}">
                <a16:creationId xmlns:a16="http://schemas.microsoft.com/office/drawing/2014/main" id="{BA7CACFE-A07A-2F04-16CB-E22AD03668E1}"/>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54" name="Google Shape;354;p15">
            <a:extLst>
              <a:ext uri="{FF2B5EF4-FFF2-40B4-BE49-F238E27FC236}">
                <a16:creationId xmlns:a16="http://schemas.microsoft.com/office/drawing/2014/main" id="{92485B40-1D32-03B4-888C-4A0BB5010829}"/>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55" name="Google Shape;355;p15">
            <a:extLst>
              <a:ext uri="{FF2B5EF4-FFF2-40B4-BE49-F238E27FC236}">
                <a16:creationId xmlns:a16="http://schemas.microsoft.com/office/drawing/2014/main" id="{61150123-F3BF-A937-FAEB-1340D91DAC86}"/>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4" name="TextBox 3">
            <a:extLst>
              <a:ext uri="{FF2B5EF4-FFF2-40B4-BE49-F238E27FC236}">
                <a16:creationId xmlns:a16="http://schemas.microsoft.com/office/drawing/2014/main" id="{DEDEA584-AC18-BF9E-891B-2A516010FF47}"/>
              </a:ext>
            </a:extLst>
          </p:cNvPr>
          <p:cNvSpPr txBox="1"/>
          <p:nvPr/>
        </p:nvSpPr>
        <p:spPr>
          <a:xfrm>
            <a:off x="217600" y="1253666"/>
            <a:ext cx="6620080" cy="707886"/>
          </a:xfrm>
          <a:prstGeom prst="rect">
            <a:avLst/>
          </a:prstGeom>
          <a:noFill/>
        </p:spPr>
        <p:txBody>
          <a:bodyPr wrap="square" rtlCol="0">
            <a:spAutoFit/>
          </a:bodyPr>
          <a:lstStyle/>
          <a:p>
            <a:r>
              <a:rPr lang="en-US" sz="2000" b="1" dirty="0"/>
              <a:t>Which states have the highest number of accidents, and what is the average severity in those states?</a:t>
            </a:r>
            <a:endParaRPr lang="en-IN" sz="2000" b="1" dirty="0"/>
          </a:p>
        </p:txBody>
      </p:sp>
      <p:sp>
        <p:nvSpPr>
          <p:cNvPr id="6" name="TextBox 5">
            <a:extLst>
              <a:ext uri="{FF2B5EF4-FFF2-40B4-BE49-F238E27FC236}">
                <a16:creationId xmlns:a16="http://schemas.microsoft.com/office/drawing/2014/main" id="{6F6F2494-1DB7-F30D-1A0C-B53016FA6D59}"/>
              </a:ext>
            </a:extLst>
          </p:cNvPr>
          <p:cNvSpPr txBox="1"/>
          <p:nvPr/>
        </p:nvSpPr>
        <p:spPr>
          <a:xfrm>
            <a:off x="6675120" y="1900051"/>
            <a:ext cx="5252720" cy="1200329"/>
          </a:xfrm>
          <a:prstGeom prst="rect">
            <a:avLst/>
          </a:prstGeom>
          <a:noFill/>
        </p:spPr>
        <p:txBody>
          <a:bodyPr wrap="square" rtlCol="0">
            <a:spAutoFit/>
          </a:bodyPr>
          <a:lstStyle/>
          <a:p>
            <a:r>
              <a:rPr lang="en-US" b="1" dirty="0"/>
              <a:t>SELECT L.STATE, AVG(A.SEVERITY) AS AVG_SEVERITY, COUNT(A.ID) AS ACCIDENT_COUNT FROM ACCIDENT A INNER JOIN LOCATION L ON A.ID= L.ID GROUP BY L.STATE ORDER BY ACCIDENT_COUNT DESC LIMIT 5;</a:t>
            </a:r>
            <a:endParaRPr lang="en-IN" b="1" dirty="0"/>
          </a:p>
        </p:txBody>
      </p:sp>
      <p:sp>
        <p:nvSpPr>
          <p:cNvPr id="12" name="TextBox 11">
            <a:extLst>
              <a:ext uri="{FF2B5EF4-FFF2-40B4-BE49-F238E27FC236}">
                <a16:creationId xmlns:a16="http://schemas.microsoft.com/office/drawing/2014/main" id="{0662D758-0464-4442-C765-121BF54C9549}"/>
              </a:ext>
            </a:extLst>
          </p:cNvPr>
          <p:cNvSpPr txBox="1"/>
          <p:nvPr/>
        </p:nvSpPr>
        <p:spPr>
          <a:xfrm>
            <a:off x="217600" y="1981200"/>
            <a:ext cx="3399360" cy="523220"/>
          </a:xfrm>
          <a:prstGeom prst="rect">
            <a:avLst/>
          </a:prstGeom>
          <a:noFill/>
        </p:spPr>
        <p:txBody>
          <a:bodyPr wrap="square" rtlCol="0">
            <a:spAutoFit/>
          </a:bodyPr>
          <a:lstStyle/>
          <a:p>
            <a:r>
              <a:rPr lang="en-IN" sz="2800" b="1" dirty="0"/>
              <a:t>Explanation:</a:t>
            </a:r>
          </a:p>
        </p:txBody>
      </p:sp>
      <p:sp>
        <p:nvSpPr>
          <p:cNvPr id="13" name="TextBox 12">
            <a:extLst>
              <a:ext uri="{FF2B5EF4-FFF2-40B4-BE49-F238E27FC236}">
                <a16:creationId xmlns:a16="http://schemas.microsoft.com/office/drawing/2014/main" id="{09290F68-FE49-F32B-ACE4-452776DC6C04}"/>
              </a:ext>
            </a:extLst>
          </p:cNvPr>
          <p:cNvSpPr txBox="1"/>
          <p:nvPr/>
        </p:nvSpPr>
        <p:spPr>
          <a:xfrm>
            <a:off x="214260" y="3799042"/>
            <a:ext cx="2901520" cy="523220"/>
          </a:xfrm>
          <a:prstGeom prst="rect">
            <a:avLst/>
          </a:prstGeom>
          <a:noFill/>
        </p:spPr>
        <p:txBody>
          <a:bodyPr wrap="square" rtlCol="0">
            <a:spAutoFit/>
          </a:bodyPr>
          <a:lstStyle/>
          <a:p>
            <a:r>
              <a:rPr lang="en-IN" sz="2800" b="1" dirty="0"/>
              <a:t>Solution:</a:t>
            </a:r>
          </a:p>
        </p:txBody>
      </p:sp>
      <p:sp>
        <p:nvSpPr>
          <p:cNvPr id="15" name="TextBox 14">
            <a:extLst>
              <a:ext uri="{FF2B5EF4-FFF2-40B4-BE49-F238E27FC236}">
                <a16:creationId xmlns:a16="http://schemas.microsoft.com/office/drawing/2014/main" id="{CFD41E81-949D-DC10-5C4D-AB1B09EB4BC3}"/>
              </a:ext>
            </a:extLst>
          </p:cNvPr>
          <p:cNvSpPr txBox="1"/>
          <p:nvPr/>
        </p:nvSpPr>
        <p:spPr>
          <a:xfrm>
            <a:off x="214260" y="2500215"/>
            <a:ext cx="5394960" cy="1015663"/>
          </a:xfrm>
          <a:prstGeom prst="rect">
            <a:avLst/>
          </a:prstGeom>
          <a:noFill/>
        </p:spPr>
        <p:txBody>
          <a:bodyPr wrap="square" rtlCol="0">
            <a:spAutoFit/>
          </a:bodyPr>
          <a:lstStyle/>
          <a:p>
            <a:pPr lvl="0" fontAlgn="base">
              <a:spcBef>
                <a:spcPct val="0"/>
              </a:spcBef>
              <a:spcAft>
                <a:spcPct val="0"/>
              </a:spcAft>
            </a:pPr>
            <a:r>
              <a:rPr lang="en-US" altLang="en-US" sz="2000" dirty="0"/>
              <a:t>Check average accident severity in each state </a:t>
            </a:r>
          </a:p>
          <a:p>
            <a:pPr lvl="0" fontAlgn="base">
              <a:spcBef>
                <a:spcPct val="0"/>
              </a:spcBef>
              <a:spcAft>
                <a:spcPct val="0"/>
              </a:spcAft>
            </a:pPr>
            <a:r>
              <a:rPr lang="en-US" altLang="en-US" sz="2000" dirty="0"/>
              <a:t>Identify high-risk states for comparison </a:t>
            </a:r>
          </a:p>
          <a:p>
            <a:pPr lvl="0" fontAlgn="base">
              <a:spcBef>
                <a:spcPct val="0"/>
              </a:spcBef>
              <a:spcAft>
                <a:spcPct val="0"/>
              </a:spcAft>
            </a:pPr>
            <a:r>
              <a:rPr lang="en-US" altLang="en-US" sz="2000" dirty="0"/>
              <a:t>Focus on top 5 states for easy analysis </a:t>
            </a:r>
          </a:p>
        </p:txBody>
      </p:sp>
      <p:sp>
        <p:nvSpPr>
          <p:cNvPr id="19" name="TextBox 18">
            <a:extLst>
              <a:ext uri="{FF2B5EF4-FFF2-40B4-BE49-F238E27FC236}">
                <a16:creationId xmlns:a16="http://schemas.microsoft.com/office/drawing/2014/main" id="{EB4A86F7-6E10-CE14-1B23-D1DF8DA63194}"/>
              </a:ext>
            </a:extLst>
          </p:cNvPr>
          <p:cNvSpPr txBox="1"/>
          <p:nvPr/>
        </p:nvSpPr>
        <p:spPr>
          <a:xfrm>
            <a:off x="214260" y="4332770"/>
            <a:ext cx="5919700" cy="1323439"/>
          </a:xfrm>
          <a:prstGeom prst="rect">
            <a:avLst/>
          </a:prstGeom>
          <a:noFill/>
        </p:spPr>
        <p:txBody>
          <a:bodyPr wrap="square" rtlCol="0">
            <a:spAutoFit/>
          </a:bodyPr>
          <a:lstStyle/>
          <a:p>
            <a:pPr fontAlgn="base">
              <a:spcBef>
                <a:spcPct val="0"/>
              </a:spcBef>
              <a:spcAft>
                <a:spcPct val="0"/>
              </a:spcAft>
            </a:pPr>
            <a:r>
              <a:rPr lang="en-US" sz="2000" dirty="0"/>
              <a:t>These states have the highest accident counts, so they should be analyzed further to understand accident patterns and support data-driven safety decisions.</a:t>
            </a:r>
          </a:p>
          <a:p>
            <a:endParaRPr lang="en-IN" sz="2000" b="1" dirty="0"/>
          </a:p>
        </p:txBody>
      </p:sp>
      <p:pic>
        <p:nvPicPr>
          <p:cNvPr id="18" name="Picture 17">
            <a:extLst>
              <a:ext uri="{FF2B5EF4-FFF2-40B4-BE49-F238E27FC236}">
                <a16:creationId xmlns:a16="http://schemas.microsoft.com/office/drawing/2014/main" id="{5401786C-13F8-0B29-920C-6472F105EE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5120" y="3515878"/>
            <a:ext cx="4978400" cy="2700856"/>
          </a:xfrm>
          <a:prstGeom prst="rect">
            <a:avLst/>
          </a:prstGeom>
        </p:spPr>
      </p:pic>
    </p:spTree>
    <p:extLst>
      <p:ext uri="{BB962C8B-B14F-4D97-AF65-F5344CB8AC3E}">
        <p14:creationId xmlns:p14="http://schemas.microsoft.com/office/powerpoint/2010/main" val="1855473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9">
          <a:extLst>
            <a:ext uri="{FF2B5EF4-FFF2-40B4-BE49-F238E27FC236}">
              <a16:creationId xmlns:a16="http://schemas.microsoft.com/office/drawing/2014/main" id="{04B9F27A-B6F7-D227-8135-377E9BBB71B6}"/>
            </a:ext>
          </a:extLst>
        </p:cNvPr>
        <p:cNvGrpSpPr/>
        <p:nvPr/>
      </p:nvGrpSpPr>
      <p:grpSpPr>
        <a:xfrm>
          <a:off x="0" y="0"/>
          <a:ext cx="0" cy="0"/>
          <a:chOff x="0" y="0"/>
          <a:chExt cx="0" cy="0"/>
        </a:xfrm>
      </p:grpSpPr>
      <p:sp>
        <p:nvSpPr>
          <p:cNvPr id="351" name="Google Shape;351;p15">
            <a:extLst>
              <a:ext uri="{FF2B5EF4-FFF2-40B4-BE49-F238E27FC236}">
                <a16:creationId xmlns:a16="http://schemas.microsoft.com/office/drawing/2014/main" id="{81DCF4B5-3FFF-5C4A-6E09-C038C90A09CF}"/>
              </a:ext>
            </a:extLst>
          </p:cNvPr>
          <p:cNvSpPr txBox="1">
            <a:spLocks noGrp="1"/>
          </p:cNvSpPr>
          <p:nvPr>
            <p:ph type="ctrTitle"/>
          </p:nvPr>
        </p:nvSpPr>
        <p:spPr>
          <a:xfrm>
            <a:off x="0" y="79389"/>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SQL-Based Data Insights</a:t>
            </a:r>
            <a:endParaRPr sz="4000" b="1" dirty="0">
              <a:solidFill>
                <a:srgbClr val="FFFFFF"/>
              </a:solidFill>
              <a:latin typeface="Roboto"/>
              <a:ea typeface="Roboto"/>
              <a:cs typeface="Roboto"/>
              <a:sym typeface="Roboto"/>
            </a:endParaRPr>
          </a:p>
        </p:txBody>
      </p:sp>
      <p:sp>
        <p:nvSpPr>
          <p:cNvPr id="352" name="Google Shape;352;p15">
            <a:extLst>
              <a:ext uri="{FF2B5EF4-FFF2-40B4-BE49-F238E27FC236}">
                <a16:creationId xmlns:a16="http://schemas.microsoft.com/office/drawing/2014/main" id="{CAC938A6-27B4-0A1B-DB13-781A91D4DB37}"/>
              </a:ext>
            </a:extLst>
          </p:cNvPr>
          <p:cNvSpPr txBox="1"/>
          <p:nvPr/>
        </p:nvSpPr>
        <p:spPr>
          <a:xfrm>
            <a:off x="37960" y="1133442"/>
            <a:ext cx="12192000" cy="5331199"/>
          </a:xfrm>
          <a:prstGeom prst="rect">
            <a:avLst/>
          </a:prstGeom>
          <a:noFill/>
          <a:ln>
            <a:noFill/>
          </a:ln>
        </p:spPr>
        <p:txBody>
          <a:bodyPr spcFirstLastPara="1" wrap="square" lIns="365733" tIns="365733" rIns="365733" bIns="365733" anchor="t" anchorCtr="0">
            <a:noAutofit/>
          </a:bodyPr>
          <a:lstStyle/>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endParaRPr sz="2667" dirty="0">
              <a:solidFill>
                <a:schemeClr val="dk1"/>
              </a:solidFill>
              <a:latin typeface="Roboto"/>
              <a:ea typeface="Roboto"/>
              <a:cs typeface="Roboto"/>
              <a:sym typeface="Roboto"/>
            </a:endParaRPr>
          </a:p>
        </p:txBody>
      </p:sp>
      <p:sp>
        <p:nvSpPr>
          <p:cNvPr id="353" name="Google Shape;353;p15">
            <a:extLst>
              <a:ext uri="{FF2B5EF4-FFF2-40B4-BE49-F238E27FC236}">
                <a16:creationId xmlns:a16="http://schemas.microsoft.com/office/drawing/2014/main" id="{34274C4A-558C-23A2-3FD6-8D0FA21E68B0}"/>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54" name="Google Shape;354;p15">
            <a:extLst>
              <a:ext uri="{FF2B5EF4-FFF2-40B4-BE49-F238E27FC236}">
                <a16:creationId xmlns:a16="http://schemas.microsoft.com/office/drawing/2014/main" id="{E67B5560-495D-1DBA-13BB-4BBDD40FB7EB}"/>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55" name="Google Shape;355;p15">
            <a:extLst>
              <a:ext uri="{FF2B5EF4-FFF2-40B4-BE49-F238E27FC236}">
                <a16:creationId xmlns:a16="http://schemas.microsoft.com/office/drawing/2014/main" id="{222D18AE-3325-5F97-20B0-C9FF6297C8ED}"/>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4" name="TextBox 3">
            <a:extLst>
              <a:ext uri="{FF2B5EF4-FFF2-40B4-BE49-F238E27FC236}">
                <a16:creationId xmlns:a16="http://schemas.microsoft.com/office/drawing/2014/main" id="{C62CDFF6-1378-41B6-E5BB-88A40AE972F7}"/>
              </a:ext>
            </a:extLst>
          </p:cNvPr>
          <p:cNvSpPr txBox="1"/>
          <p:nvPr/>
        </p:nvSpPr>
        <p:spPr>
          <a:xfrm>
            <a:off x="214260" y="1274226"/>
            <a:ext cx="6620080" cy="461665"/>
          </a:xfrm>
          <a:prstGeom prst="rect">
            <a:avLst/>
          </a:prstGeom>
          <a:noFill/>
        </p:spPr>
        <p:txBody>
          <a:bodyPr wrap="square" rtlCol="0">
            <a:spAutoFit/>
          </a:bodyPr>
          <a:lstStyle/>
          <a:p>
            <a:r>
              <a:rPr lang="en-US" sz="2400" b="1" dirty="0"/>
              <a:t>Accidents Based on Weather Conditions </a:t>
            </a:r>
            <a:endParaRPr lang="en-IN" sz="2400" b="1" dirty="0"/>
          </a:p>
        </p:txBody>
      </p:sp>
      <p:sp>
        <p:nvSpPr>
          <p:cNvPr id="6" name="TextBox 5">
            <a:extLst>
              <a:ext uri="{FF2B5EF4-FFF2-40B4-BE49-F238E27FC236}">
                <a16:creationId xmlns:a16="http://schemas.microsoft.com/office/drawing/2014/main" id="{E5C5610B-2AAD-6543-8104-D60F92C82166}"/>
              </a:ext>
            </a:extLst>
          </p:cNvPr>
          <p:cNvSpPr txBox="1"/>
          <p:nvPr/>
        </p:nvSpPr>
        <p:spPr>
          <a:xfrm>
            <a:off x="6542142" y="1741591"/>
            <a:ext cx="5345058" cy="1477328"/>
          </a:xfrm>
          <a:prstGeom prst="rect">
            <a:avLst/>
          </a:prstGeom>
          <a:noFill/>
        </p:spPr>
        <p:txBody>
          <a:bodyPr wrap="square" rtlCol="0">
            <a:spAutoFit/>
          </a:bodyPr>
          <a:lstStyle/>
          <a:p>
            <a:r>
              <a:rPr lang="en-US" b="1" dirty="0"/>
              <a:t>SELECT W.WEATHER_CONDITION, COUNT(A.ID) AS ACCIDENT_COUNT, AVG(SEVERITY) AS AVG_SEVERITY FROM WEATHER W INNER JOIN ACCIDENT A ON W.ID=A.ID GROUP BY WEATHER_CONDITION ORDER BY ACCIDENT_COUNT DESC LIMIT 5;</a:t>
            </a:r>
            <a:endParaRPr lang="en-IN" b="1" dirty="0"/>
          </a:p>
        </p:txBody>
      </p:sp>
      <p:sp>
        <p:nvSpPr>
          <p:cNvPr id="12" name="TextBox 11">
            <a:extLst>
              <a:ext uri="{FF2B5EF4-FFF2-40B4-BE49-F238E27FC236}">
                <a16:creationId xmlns:a16="http://schemas.microsoft.com/office/drawing/2014/main" id="{86ABADC6-C1DC-280E-A930-4C62CD4702C7}"/>
              </a:ext>
            </a:extLst>
          </p:cNvPr>
          <p:cNvSpPr txBox="1"/>
          <p:nvPr/>
        </p:nvSpPr>
        <p:spPr>
          <a:xfrm>
            <a:off x="217600" y="1981200"/>
            <a:ext cx="3399360" cy="523220"/>
          </a:xfrm>
          <a:prstGeom prst="rect">
            <a:avLst/>
          </a:prstGeom>
          <a:noFill/>
        </p:spPr>
        <p:txBody>
          <a:bodyPr wrap="square" rtlCol="0">
            <a:spAutoFit/>
          </a:bodyPr>
          <a:lstStyle/>
          <a:p>
            <a:r>
              <a:rPr lang="en-IN" sz="2800" b="1" dirty="0"/>
              <a:t>Explanation:</a:t>
            </a:r>
          </a:p>
        </p:txBody>
      </p:sp>
      <p:sp>
        <p:nvSpPr>
          <p:cNvPr id="13" name="TextBox 12">
            <a:extLst>
              <a:ext uri="{FF2B5EF4-FFF2-40B4-BE49-F238E27FC236}">
                <a16:creationId xmlns:a16="http://schemas.microsoft.com/office/drawing/2014/main" id="{94B5861B-7882-5A8F-3F6B-E2A8AA0BED0C}"/>
              </a:ext>
            </a:extLst>
          </p:cNvPr>
          <p:cNvSpPr txBox="1"/>
          <p:nvPr/>
        </p:nvSpPr>
        <p:spPr>
          <a:xfrm>
            <a:off x="214260" y="3920775"/>
            <a:ext cx="2901520" cy="523220"/>
          </a:xfrm>
          <a:prstGeom prst="rect">
            <a:avLst/>
          </a:prstGeom>
          <a:noFill/>
        </p:spPr>
        <p:txBody>
          <a:bodyPr wrap="square" rtlCol="0">
            <a:spAutoFit/>
          </a:bodyPr>
          <a:lstStyle/>
          <a:p>
            <a:r>
              <a:rPr lang="en-IN" sz="2800" b="1" dirty="0"/>
              <a:t>Solution:</a:t>
            </a:r>
          </a:p>
        </p:txBody>
      </p:sp>
      <p:sp>
        <p:nvSpPr>
          <p:cNvPr id="15" name="TextBox 14">
            <a:extLst>
              <a:ext uri="{FF2B5EF4-FFF2-40B4-BE49-F238E27FC236}">
                <a16:creationId xmlns:a16="http://schemas.microsoft.com/office/drawing/2014/main" id="{C9C6CB87-E405-34F0-190D-739E5A48FDF4}"/>
              </a:ext>
            </a:extLst>
          </p:cNvPr>
          <p:cNvSpPr txBox="1"/>
          <p:nvPr/>
        </p:nvSpPr>
        <p:spPr>
          <a:xfrm>
            <a:off x="214260" y="2500215"/>
            <a:ext cx="5394960" cy="1323439"/>
          </a:xfrm>
          <a:prstGeom prst="rect">
            <a:avLst/>
          </a:prstGeom>
          <a:noFill/>
        </p:spPr>
        <p:txBody>
          <a:bodyPr wrap="square" rtlCol="0">
            <a:spAutoFit/>
          </a:bodyPr>
          <a:lstStyle/>
          <a:p>
            <a:pPr fontAlgn="base">
              <a:spcBef>
                <a:spcPct val="0"/>
              </a:spcBef>
              <a:spcAft>
                <a:spcPct val="0"/>
              </a:spcAft>
            </a:pPr>
            <a:r>
              <a:rPr lang="en-US" sz="2000" dirty="0"/>
              <a:t>We are analyzing how different weather conditions affect road accidents.</a:t>
            </a:r>
            <a:br>
              <a:rPr lang="en-US" sz="2000" dirty="0"/>
            </a:br>
            <a:r>
              <a:rPr lang="en-US" sz="2000" dirty="0"/>
              <a:t>The goal is to understand whether weather increases accident risk and severity</a:t>
            </a:r>
            <a:r>
              <a:rPr lang="en-US" altLang="en-US" sz="2000" dirty="0"/>
              <a:t> </a:t>
            </a:r>
          </a:p>
        </p:txBody>
      </p:sp>
      <p:sp>
        <p:nvSpPr>
          <p:cNvPr id="19" name="TextBox 18">
            <a:extLst>
              <a:ext uri="{FF2B5EF4-FFF2-40B4-BE49-F238E27FC236}">
                <a16:creationId xmlns:a16="http://schemas.microsoft.com/office/drawing/2014/main" id="{31ABA428-C86D-1D00-F233-015FDF196268}"/>
              </a:ext>
            </a:extLst>
          </p:cNvPr>
          <p:cNvSpPr txBox="1"/>
          <p:nvPr/>
        </p:nvSpPr>
        <p:spPr>
          <a:xfrm>
            <a:off x="222470" y="4452901"/>
            <a:ext cx="5919700" cy="1938992"/>
          </a:xfrm>
          <a:prstGeom prst="rect">
            <a:avLst/>
          </a:prstGeom>
          <a:noFill/>
        </p:spPr>
        <p:txBody>
          <a:bodyPr wrap="square" rtlCol="0">
            <a:spAutoFit/>
          </a:bodyPr>
          <a:lstStyle/>
          <a:p>
            <a:pPr lvl="0" fontAlgn="base">
              <a:spcBef>
                <a:spcPct val="0"/>
              </a:spcBef>
              <a:spcAft>
                <a:spcPct val="0"/>
              </a:spcAft>
              <a:buFontTx/>
              <a:buChar char="•"/>
            </a:pPr>
            <a:r>
              <a:rPr lang="en-US" altLang="en-US" sz="2000" dirty="0"/>
              <a:t>Use weather alert systems for drivers </a:t>
            </a:r>
          </a:p>
          <a:p>
            <a:pPr lvl="0" fontAlgn="base">
              <a:spcBef>
                <a:spcPct val="0"/>
              </a:spcBef>
              <a:spcAft>
                <a:spcPct val="0"/>
              </a:spcAft>
              <a:buFontTx/>
              <a:buChar char="•"/>
            </a:pPr>
            <a:r>
              <a:rPr lang="en-US" altLang="en-US" sz="2000" dirty="0"/>
              <a:t>Improve visibility during fog and rain </a:t>
            </a:r>
          </a:p>
          <a:p>
            <a:pPr lvl="0" fontAlgn="base">
              <a:spcBef>
                <a:spcPct val="0"/>
              </a:spcBef>
              <a:spcAft>
                <a:spcPct val="0"/>
              </a:spcAft>
              <a:buFontTx/>
              <a:buChar char="•"/>
            </a:pPr>
            <a:r>
              <a:rPr lang="en-US" altLang="en-US" sz="2000" dirty="0"/>
              <a:t>Give safe driving warnings in bad weather </a:t>
            </a:r>
          </a:p>
          <a:p>
            <a:pPr lvl="0" fontAlgn="base">
              <a:spcBef>
                <a:spcPct val="0"/>
              </a:spcBef>
              <a:spcAft>
                <a:spcPct val="0"/>
              </a:spcAft>
              <a:buFontTx/>
              <a:buChar char="•"/>
            </a:pPr>
            <a:r>
              <a:rPr lang="en-US" altLang="en-US" sz="2000" dirty="0"/>
              <a:t>Add warning signs in risky weather conditions </a:t>
            </a:r>
          </a:p>
          <a:p>
            <a:pPr fontAlgn="base">
              <a:spcBef>
                <a:spcPct val="0"/>
              </a:spcBef>
              <a:spcAft>
                <a:spcPct val="0"/>
              </a:spcAft>
            </a:pPr>
            <a:endParaRPr lang="en-US" sz="2000" b="1" dirty="0"/>
          </a:p>
          <a:p>
            <a:endParaRPr lang="en-IN" sz="2000" b="1" dirty="0"/>
          </a:p>
        </p:txBody>
      </p:sp>
      <p:pic>
        <p:nvPicPr>
          <p:cNvPr id="7" name="Picture 6">
            <a:extLst>
              <a:ext uri="{FF2B5EF4-FFF2-40B4-BE49-F238E27FC236}">
                <a16:creationId xmlns:a16="http://schemas.microsoft.com/office/drawing/2014/main" id="{83DC8F30-D952-821B-2C6D-26456E7F17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2088" y="3823655"/>
            <a:ext cx="5235112" cy="2393080"/>
          </a:xfrm>
          <a:prstGeom prst="rect">
            <a:avLst/>
          </a:prstGeom>
        </p:spPr>
      </p:pic>
    </p:spTree>
    <p:extLst>
      <p:ext uri="{BB962C8B-B14F-4D97-AF65-F5344CB8AC3E}">
        <p14:creationId xmlns:p14="http://schemas.microsoft.com/office/powerpoint/2010/main" val="1130027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9">
          <a:extLst>
            <a:ext uri="{FF2B5EF4-FFF2-40B4-BE49-F238E27FC236}">
              <a16:creationId xmlns:a16="http://schemas.microsoft.com/office/drawing/2014/main" id="{1CDB6822-39B3-0785-E68C-FADA0A574163}"/>
            </a:ext>
          </a:extLst>
        </p:cNvPr>
        <p:cNvGrpSpPr/>
        <p:nvPr/>
      </p:nvGrpSpPr>
      <p:grpSpPr>
        <a:xfrm>
          <a:off x="0" y="0"/>
          <a:ext cx="0" cy="0"/>
          <a:chOff x="0" y="0"/>
          <a:chExt cx="0" cy="0"/>
        </a:xfrm>
      </p:grpSpPr>
      <p:sp>
        <p:nvSpPr>
          <p:cNvPr id="351" name="Google Shape;351;p15">
            <a:extLst>
              <a:ext uri="{FF2B5EF4-FFF2-40B4-BE49-F238E27FC236}">
                <a16:creationId xmlns:a16="http://schemas.microsoft.com/office/drawing/2014/main" id="{ED27E266-3C94-EE9A-189A-4E008930E923}"/>
              </a:ext>
            </a:extLst>
          </p:cNvPr>
          <p:cNvSpPr txBox="1">
            <a:spLocks noGrp="1"/>
          </p:cNvSpPr>
          <p:nvPr>
            <p:ph type="ctrTitle"/>
          </p:nvPr>
        </p:nvSpPr>
        <p:spPr>
          <a:xfrm>
            <a:off x="0" y="79389"/>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SQL-Based Data Insights</a:t>
            </a:r>
            <a:endParaRPr sz="4000" b="1" dirty="0">
              <a:solidFill>
                <a:srgbClr val="FFFFFF"/>
              </a:solidFill>
              <a:latin typeface="Roboto"/>
              <a:ea typeface="Roboto"/>
              <a:cs typeface="Roboto"/>
              <a:sym typeface="Roboto"/>
            </a:endParaRPr>
          </a:p>
        </p:txBody>
      </p:sp>
      <p:sp>
        <p:nvSpPr>
          <p:cNvPr id="352" name="Google Shape;352;p15">
            <a:extLst>
              <a:ext uri="{FF2B5EF4-FFF2-40B4-BE49-F238E27FC236}">
                <a16:creationId xmlns:a16="http://schemas.microsoft.com/office/drawing/2014/main" id="{FF0F90D7-74F9-7FFC-38A7-F81FFF4403B2}"/>
              </a:ext>
            </a:extLst>
          </p:cNvPr>
          <p:cNvSpPr txBox="1"/>
          <p:nvPr/>
        </p:nvSpPr>
        <p:spPr>
          <a:xfrm>
            <a:off x="-281280" y="1069600"/>
            <a:ext cx="12192000" cy="5331199"/>
          </a:xfrm>
          <a:prstGeom prst="rect">
            <a:avLst/>
          </a:prstGeom>
          <a:noFill/>
          <a:ln>
            <a:noFill/>
          </a:ln>
        </p:spPr>
        <p:txBody>
          <a:bodyPr spcFirstLastPara="1" wrap="square" lIns="365733" tIns="365733" rIns="365733" bIns="365733" anchor="t" anchorCtr="0">
            <a:noAutofit/>
          </a:bodyPr>
          <a:lstStyle/>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endParaRPr sz="2667" dirty="0">
              <a:solidFill>
                <a:schemeClr val="dk1"/>
              </a:solidFill>
              <a:latin typeface="Roboto"/>
              <a:ea typeface="Roboto"/>
              <a:cs typeface="Roboto"/>
              <a:sym typeface="Roboto"/>
            </a:endParaRPr>
          </a:p>
        </p:txBody>
      </p:sp>
      <p:sp>
        <p:nvSpPr>
          <p:cNvPr id="353" name="Google Shape;353;p15">
            <a:extLst>
              <a:ext uri="{FF2B5EF4-FFF2-40B4-BE49-F238E27FC236}">
                <a16:creationId xmlns:a16="http://schemas.microsoft.com/office/drawing/2014/main" id="{EE921B59-3228-C2E2-13BB-1B2401AB4A26}"/>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54" name="Google Shape;354;p15">
            <a:extLst>
              <a:ext uri="{FF2B5EF4-FFF2-40B4-BE49-F238E27FC236}">
                <a16:creationId xmlns:a16="http://schemas.microsoft.com/office/drawing/2014/main" id="{E494059B-520B-4AF7-5493-CA22155CD5E9}"/>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55" name="Google Shape;355;p15">
            <a:extLst>
              <a:ext uri="{FF2B5EF4-FFF2-40B4-BE49-F238E27FC236}">
                <a16:creationId xmlns:a16="http://schemas.microsoft.com/office/drawing/2014/main" id="{CCA97794-3EA8-007B-138F-AF765F834A54}"/>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4" name="TextBox 3">
            <a:extLst>
              <a:ext uri="{FF2B5EF4-FFF2-40B4-BE49-F238E27FC236}">
                <a16:creationId xmlns:a16="http://schemas.microsoft.com/office/drawing/2014/main" id="{3241B821-7EEF-E3CA-3BB8-D77AD2561DCF}"/>
              </a:ext>
            </a:extLst>
          </p:cNvPr>
          <p:cNvSpPr txBox="1"/>
          <p:nvPr/>
        </p:nvSpPr>
        <p:spPr>
          <a:xfrm>
            <a:off x="214260" y="1224754"/>
            <a:ext cx="6620080" cy="707886"/>
          </a:xfrm>
          <a:prstGeom prst="rect">
            <a:avLst/>
          </a:prstGeom>
          <a:noFill/>
        </p:spPr>
        <p:txBody>
          <a:bodyPr wrap="square" rtlCol="0">
            <a:spAutoFit/>
          </a:bodyPr>
          <a:lstStyle/>
          <a:p>
            <a:r>
              <a:rPr lang="en-US" sz="2000" b="1" dirty="0"/>
              <a:t>City-wise Accident Frequency &amp; Severity by Weather and Time </a:t>
            </a:r>
            <a:endParaRPr lang="en-IN" sz="2000" b="1" dirty="0"/>
          </a:p>
        </p:txBody>
      </p:sp>
      <p:sp>
        <p:nvSpPr>
          <p:cNvPr id="6" name="TextBox 5">
            <a:extLst>
              <a:ext uri="{FF2B5EF4-FFF2-40B4-BE49-F238E27FC236}">
                <a16:creationId xmlns:a16="http://schemas.microsoft.com/office/drawing/2014/main" id="{AF4093B0-1E60-3D82-1D9B-224D671478D8}"/>
              </a:ext>
            </a:extLst>
          </p:cNvPr>
          <p:cNvSpPr txBox="1"/>
          <p:nvPr/>
        </p:nvSpPr>
        <p:spPr>
          <a:xfrm>
            <a:off x="6652088" y="1346053"/>
            <a:ext cx="5323542" cy="2308324"/>
          </a:xfrm>
          <a:prstGeom prst="rect">
            <a:avLst/>
          </a:prstGeom>
          <a:noFill/>
        </p:spPr>
        <p:txBody>
          <a:bodyPr wrap="square" rtlCol="0">
            <a:spAutoFit/>
          </a:bodyPr>
          <a:lstStyle/>
          <a:p>
            <a:r>
              <a:rPr lang="en-IN" b="1" dirty="0"/>
              <a:t>SELECT L.CITY, W.WEATHER_CONDITION, W.SUNRISE_SUNSET, AVG(A.SEVERITY) AS AVG_SEVERITY , COUNT(A.ID) AS HIGH_ACCIDENTS  FROM ACCIDENT A INNER JOIN LOCATION L ON A.ID=L.ID INNER JOIN WEATHER W ON A.ID=W.ID GROUP BY L.CITY,W.WEATHER_CONDITION ,W.SUNRISE_SUNSETORDER BY HIGH_ACCIDENTS DESC LIMIT 5;</a:t>
            </a:r>
          </a:p>
        </p:txBody>
      </p:sp>
      <p:sp>
        <p:nvSpPr>
          <p:cNvPr id="12" name="TextBox 11">
            <a:extLst>
              <a:ext uri="{FF2B5EF4-FFF2-40B4-BE49-F238E27FC236}">
                <a16:creationId xmlns:a16="http://schemas.microsoft.com/office/drawing/2014/main" id="{608BDF5D-1022-FCE6-8D97-BFF2F314AFC0}"/>
              </a:ext>
            </a:extLst>
          </p:cNvPr>
          <p:cNvSpPr txBox="1"/>
          <p:nvPr/>
        </p:nvSpPr>
        <p:spPr>
          <a:xfrm>
            <a:off x="217600" y="1981200"/>
            <a:ext cx="3399360" cy="523220"/>
          </a:xfrm>
          <a:prstGeom prst="rect">
            <a:avLst/>
          </a:prstGeom>
          <a:noFill/>
        </p:spPr>
        <p:txBody>
          <a:bodyPr wrap="square" rtlCol="0">
            <a:spAutoFit/>
          </a:bodyPr>
          <a:lstStyle/>
          <a:p>
            <a:r>
              <a:rPr lang="en-IN" sz="2800" b="1" dirty="0"/>
              <a:t>Explanation:</a:t>
            </a:r>
          </a:p>
        </p:txBody>
      </p:sp>
      <p:sp>
        <p:nvSpPr>
          <p:cNvPr id="13" name="TextBox 12">
            <a:extLst>
              <a:ext uri="{FF2B5EF4-FFF2-40B4-BE49-F238E27FC236}">
                <a16:creationId xmlns:a16="http://schemas.microsoft.com/office/drawing/2014/main" id="{6F66D776-D883-1CA2-F265-AFBF1D536E45}"/>
              </a:ext>
            </a:extLst>
          </p:cNvPr>
          <p:cNvSpPr txBox="1"/>
          <p:nvPr/>
        </p:nvSpPr>
        <p:spPr>
          <a:xfrm>
            <a:off x="214260" y="3920775"/>
            <a:ext cx="2901520" cy="523220"/>
          </a:xfrm>
          <a:prstGeom prst="rect">
            <a:avLst/>
          </a:prstGeom>
          <a:noFill/>
        </p:spPr>
        <p:txBody>
          <a:bodyPr wrap="square" rtlCol="0">
            <a:spAutoFit/>
          </a:bodyPr>
          <a:lstStyle/>
          <a:p>
            <a:r>
              <a:rPr lang="en-IN" sz="2800" b="1" dirty="0"/>
              <a:t>Solution:</a:t>
            </a:r>
          </a:p>
        </p:txBody>
      </p:sp>
      <p:sp>
        <p:nvSpPr>
          <p:cNvPr id="15" name="TextBox 14">
            <a:extLst>
              <a:ext uri="{FF2B5EF4-FFF2-40B4-BE49-F238E27FC236}">
                <a16:creationId xmlns:a16="http://schemas.microsoft.com/office/drawing/2014/main" id="{9D339140-834C-2884-C74C-9DE674546F0D}"/>
              </a:ext>
            </a:extLst>
          </p:cNvPr>
          <p:cNvSpPr txBox="1"/>
          <p:nvPr/>
        </p:nvSpPr>
        <p:spPr>
          <a:xfrm>
            <a:off x="214260" y="2500215"/>
            <a:ext cx="5394960" cy="1508105"/>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dirty="0">
                <a:latin typeface="Arial" panose="020B0604020202020204" pitchFamily="34" charset="0"/>
              </a:rPr>
              <a:t>Cities with the highest accidents </a:t>
            </a:r>
          </a:p>
          <a:p>
            <a:pPr lvl="0" eaLnBrk="0" fontAlgn="base" hangingPunct="0">
              <a:spcBef>
                <a:spcPct val="0"/>
              </a:spcBef>
              <a:spcAft>
                <a:spcPct val="0"/>
              </a:spcAft>
              <a:buFontTx/>
              <a:buChar char="•"/>
            </a:pPr>
            <a:r>
              <a:rPr lang="en-US" altLang="en-US" dirty="0">
                <a:latin typeface="Arial" panose="020B0604020202020204" pitchFamily="34" charset="0"/>
              </a:rPr>
              <a:t>Weather conditions during accidents </a:t>
            </a:r>
          </a:p>
          <a:p>
            <a:pPr lvl="0" eaLnBrk="0" fontAlgn="base" hangingPunct="0">
              <a:spcBef>
                <a:spcPct val="0"/>
              </a:spcBef>
              <a:spcAft>
                <a:spcPct val="0"/>
              </a:spcAft>
              <a:buFontTx/>
              <a:buChar char="•"/>
            </a:pPr>
            <a:r>
              <a:rPr lang="en-US" altLang="en-US" dirty="0">
                <a:latin typeface="Arial" panose="020B0604020202020204" pitchFamily="34" charset="0"/>
              </a:rPr>
              <a:t>Whether accidents happen more in day or night </a:t>
            </a:r>
          </a:p>
          <a:p>
            <a:pPr lvl="0" eaLnBrk="0" fontAlgn="base" hangingPunct="0">
              <a:spcBef>
                <a:spcPct val="0"/>
              </a:spcBef>
              <a:spcAft>
                <a:spcPct val="0"/>
              </a:spcAft>
              <a:buFontTx/>
              <a:buChar char="•"/>
            </a:pPr>
            <a:r>
              <a:rPr lang="en-US" altLang="en-US" dirty="0">
                <a:latin typeface="Arial" panose="020B0604020202020204" pitchFamily="34" charset="0"/>
              </a:rPr>
              <a:t>Accident severity in different situations </a:t>
            </a:r>
          </a:p>
          <a:p>
            <a:pPr fontAlgn="base">
              <a:spcBef>
                <a:spcPct val="0"/>
              </a:spcBef>
              <a:spcAft>
                <a:spcPct val="0"/>
              </a:spcAft>
            </a:pPr>
            <a:endParaRPr lang="en-US" altLang="en-US" sz="2000" dirty="0"/>
          </a:p>
        </p:txBody>
      </p:sp>
      <p:sp>
        <p:nvSpPr>
          <p:cNvPr id="19" name="TextBox 18">
            <a:extLst>
              <a:ext uri="{FF2B5EF4-FFF2-40B4-BE49-F238E27FC236}">
                <a16:creationId xmlns:a16="http://schemas.microsoft.com/office/drawing/2014/main" id="{FDE0FA5B-F6B8-9E1B-F116-4C052566C5C7}"/>
              </a:ext>
            </a:extLst>
          </p:cNvPr>
          <p:cNvSpPr txBox="1"/>
          <p:nvPr/>
        </p:nvSpPr>
        <p:spPr>
          <a:xfrm>
            <a:off x="222470" y="4452901"/>
            <a:ext cx="5919700" cy="2123658"/>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dirty="0">
                <a:latin typeface="Arial" panose="020B0604020202020204" pitchFamily="34" charset="0"/>
              </a:rPr>
              <a:t>Provide weather and time-based driving alerts </a:t>
            </a:r>
          </a:p>
          <a:p>
            <a:pPr lvl="0" eaLnBrk="0" fontAlgn="base" hangingPunct="0">
              <a:spcBef>
                <a:spcPct val="0"/>
              </a:spcBef>
              <a:spcAft>
                <a:spcPct val="0"/>
              </a:spcAft>
              <a:buFontTx/>
              <a:buChar char="•"/>
            </a:pPr>
            <a:r>
              <a:rPr lang="en-US" altLang="en-US" dirty="0">
                <a:latin typeface="Arial" panose="020B0604020202020204" pitchFamily="34" charset="0"/>
              </a:rPr>
              <a:t>Improve safety measures in high-accident cities </a:t>
            </a:r>
          </a:p>
          <a:p>
            <a:pPr lvl="0" eaLnBrk="0" fontAlgn="base" hangingPunct="0">
              <a:spcBef>
                <a:spcPct val="0"/>
              </a:spcBef>
              <a:spcAft>
                <a:spcPct val="0"/>
              </a:spcAft>
              <a:buFontTx/>
              <a:buChar char="•"/>
            </a:pPr>
            <a:r>
              <a:rPr lang="en-US" altLang="en-US" dirty="0">
                <a:latin typeface="Arial" panose="020B0604020202020204" pitchFamily="34" charset="0"/>
              </a:rPr>
              <a:t>Increase driver awareness during risky conditions </a:t>
            </a:r>
          </a:p>
          <a:p>
            <a:pPr lvl="0" eaLnBrk="0" fontAlgn="base" hangingPunct="0">
              <a:spcBef>
                <a:spcPct val="0"/>
              </a:spcBef>
              <a:spcAft>
                <a:spcPct val="0"/>
              </a:spcAft>
              <a:buFontTx/>
              <a:buChar char="•"/>
            </a:pPr>
            <a:r>
              <a:rPr lang="en-US" altLang="en-US" dirty="0">
                <a:latin typeface="Arial" panose="020B0604020202020204" pitchFamily="34" charset="0"/>
              </a:rPr>
              <a:t>Focus accident prevention in accident-prone areas </a:t>
            </a:r>
          </a:p>
          <a:p>
            <a:pPr lvl="0" fontAlgn="base">
              <a:spcBef>
                <a:spcPct val="0"/>
              </a:spcBef>
              <a:spcAft>
                <a:spcPct val="0"/>
              </a:spcAft>
            </a:pPr>
            <a:endParaRPr lang="en-US" altLang="en-US" sz="2000" dirty="0"/>
          </a:p>
          <a:p>
            <a:pPr fontAlgn="base">
              <a:spcBef>
                <a:spcPct val="0"/>
              </a:spcBef>
              <a:spcAft>
                <a:spcPct val="0"/>
              </a:spcAft>
            </a:pPr>
            <a:endParaRPr lang="en-US" sz="2000" b="1" dirty="0"/>
          </a:p>
          <a:p>
            <a:endParaRPr lang="en-IN" sz="2000" b="1" dirty="0"/>
          </a:p>
        </p:txBody>
      </p:sp>
      <p:pic>
        <p:nvPicPr>
          <p:cNvPr id="8" name="Picture 7">
            <a:extLst>
              <a:ext uri="{FF2B5EF4-FFF2-40B4-BE49-F238E27FC236}">
                <a16:creationId xmlns:a16="http://schemas.microsoft.com/office/drawing/2014/main" id="{39257AB1-230D-4AA2-9065-3396CBA64F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6405" y="3775676"/>
            <a:ext cx="6430185" cy="2497536"/>
          </a:xfrm>
          <a:prstGeom prst="rect">
            <a:avLst/>
          </a:prstGeom>
        </p:spPr>
      </p:pic>
    </p:spTree>
    <p:extLst>
      <p:ext uri="{BB962C8B-B14F-4D97-AF65-F5344CB8AC3E}">
        <p14:creationId xmlns:p14="http://schemas.microsoft.com/office/powerpoint/2010/main" val="3590357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9">
          <a:extLst>
            <a:ext uri="{FF2B5EF4-FFF2-40B4-BE49-F238E27FC236}">
              <a16:creationId xmlns:a16="http://schemas.microsoft.com/office/drawing/2014/main" id="{BA035596-9399-1F21-119C-8961B43CBB18}"/>
            </a:ext>
          </a:extLst>
        </p:cNvPr>
        <p:cNvGrpSpPr/>
        <p:nvPr/>
      </p:nvGrpSpPr>
      <p:grpSpPr>
        <a:xfrm>
          <a:off x="0" y="0"/>
          <a:ext cx="0" cy="0"/>
          <a:chOff x="0" y="0"/>
          <a:chExt cx="0" cy="0"/>
        </a:xfrm>
      </p:grpSpPr>
      <p:sp>
        <p:nvSpPr>
          <p:cNvPr id="351" name="Google Shape;351;p15">
            <a:extLst>
              <a:ext uri="{FF2B5EF4-FFF2-40B4-BE49-F238E27FC236}">
                <a16:creationId xmlns:a16="http://schemas.microsoft.com/office/drawing/2014/main" id="{A261F327-E27A-5E61-EED3-22A0E1375E03}"/>
              </a:ext>
            </a:extLst>
          </p:cNvPr>
          <p:cNvSpPr txBox="1">
            <a:spLocks noGrp="1"/>
          </p:cNvSpPr>
          <p:nvPr>
            <p:ph type="ctrTitle"/>
          </p:nvPr>
        </p:nvSpPr>
        <p:spPr>
          <a:xfrm>
            <a:off x="0" y="79389"/>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SQL-Based Data Insights</a:t>
            </a:r>
            <a:endParaRPr sz="4000" b="1" dirty="0">
              <a:solidFill>
                <a:srgbClr val="FFFFFF"/>
              </a:solidFill>
              <a:latin typeface="Roboto"/>
              <a:ea typeface="Roboto"/>
              <a:cs typeface="Roboto"/>
              <a:sym typeface="Roboto"/>
            </a:endParaRPr>
          </a:p>
        </p:txBody>
      </p:sp>
      <p:sp>
        <p:nvSpPr>
          <p:cNvPr id="352" name="Google Shape;352;p15">
            <a:extLst>
              <a:ext uri="{FF2B5EF4-FFF2-40B4-BE49-F238E27FC236}">
                <a16:creationId xmlns:a16="http://schemas.microsoft.com/office/drawing/2014/main" id="{8B1F49FD-D834-6D93-6845-375C7BCEB6CE}"/>
              </a:ext>
            </a:extLst>
          </p:cNvPr>
          <p:cNvSpPr txBox="1"/>
          <p:nvPr/>
        </p:nvSpPr>
        <p:spPr>
          <a:xfrm>
            <a:off x="-281280" y="1069600"/>
            <a:ext cx="12192000" cy="5331199"/>
          </a:xfrm>
          <a:prstGeom prst="rect">
            <a:avLst/>
          </a:prstGeom>
          <a:noFill/>
          <a:ln>
            <a:noFill/>
          </a:ln>
        </p:spPr>
        <p:txBody>
          <a:bodyPr spcFirstLastPara="1" wrap="square" lIns="365733" tIns="365733" rIns="365733" bIns="365733" anchor="t" anchorCtr="0">
            <a:noAutofit/>
          </a:bodyPr>
          <a:lstStyle/>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endParaRPr sz="2667" dirty="0">
              <a:solidFill>
                <a:schemeClr val="dk1"/>
              </a:solidFill>
              <a:latin typeface="Roboto"/>
              <a:ea typeface="Roboto"/>
              <a:cs typeface="Roboto"/>
              <a:sym typeface="Roboto"/>
            </a:endParaRPr>
          </a:p>
        </p:txBody>
      </p:sp>
      <p:sp>
        <p:nvSpPr>
          <p:cNvPr id="353" name="Google Shape;353;p15">
            <a:extLst>
              <a:ext uri="{FF2B5EF4-FFF2-40B4-BE49-F238E27FC236}">
                <a16:creationId xmlns:a16="http://schemas.microsoft.com/office/drawing/2014/main" id="{94EA0EFF-F083-661C-055B-6EF109D501DA}"/>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54" name="Google Shape;354;p15">
            <a:extLst>
              <a:ext uri="{FF2B5EF4-FFF2-40B4-BE49-F238E27FC236}">
                <a16:creationId xmlns:a16="http://schemas.microsoft.com/office/drawing/2014/main" id="{BA3F461F-7654-86F8-DDEA-130DEC51AC6C}"/>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55" name="Google Shape;355;p15">
            <a:extLst>
              <a:ext uri="{FF2B5EF4-FFF2-40B4-BE49-F238E27FC236}">
                <a16:creationId xmlns:a16="http://schemas.microsoft.com/office/drawing/2014/main" id="{040264C0-3488-F6C9-2581-64D983127B35}"/>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4" name="TextBox 3">
            <a:extLst>
              <a:ext uri="{FF2B5EF4-FFF2-40B4-BE49-F238E27FC236}">
                <a16:creationId xmlns:a16="http://schemas.microsoft.com/office/drawing/2014/main" id="{282B6B8D-E28F-9788-41AE-B623939F19EF}"/>
              </a:ext>
            </a:extLst>
          </p:cNvPr>
          <p:cNvSpPr txBox="1"/>
          <p:nvPr/>
        </p:nvSpPr>
        <p:spPr>
          <a:xfrm>
            <a:off x="214260" y="1218465"/>
            <a:ext cx="6620080" cy="707886"/>
          </a:xfrm>
          <a:prstGeom prst="rect">
            <a:avLst/>
          </a:prstGeom>
          <a:noFill/>
        </p:spPr>
        <p:txBody>
          <a:bodyPr wrap="square" rtlCol="0">
            <a:spAutoFit/>
          </a:bodyPr>
          <a:lstStyle/>
          <a:p>
            <a:r>
              <a:rPr lang="en-US" sz="2000" b="1" dirty="0"/>
              <a:t>District-wise Accident Analysis in Low Visibility &amp; High Humidity Conditions</a:t>
            </a:r>
            <a:endParaRPr lang="en-IN" sz="2000" b="1" dirty="0"/>
          </a:p>
        </p:txBody>
      </p:sp>
      <p:sp>
        <p:nvSpPr>
          <p:cNvPr id="6" name="TextBox 5">
            <a:extLst>
              <a:ext uri="{FF2B5EF4-FFF2-40B4-BE49-F238E27FC236}">
                <a16:creationId xmlns:a16="http://schemas.microsoft.com/office/drawing/2014/main" id="{CAC4026F-5940-17D4-8B23-DCE859742B13}"/>
              </a:ext>
            </a:extLst>
          </p:cNvPr>
          <p:cNvSpPr txBox="1"/>
          <p:nvPr/>
        </p:nvSpPr>
        <p:spPr>
          <a:xfrm>
            <a:off x="6652088" y="1346053"/>
            <a:ext cx="5323542" cy="1754326"/>
          </a:xfrm>
          <a:prstGeom prst="rect">
            <a:avLst/>
          </a:prstGeom>
          <a:noFill/>
        </p:spPr>
        <p:txBody>
          <a:bodyPr wrap="square" rtlCol="0">
            <a:spAutoFit/>
          </a:bodyPr>
          <a:lstStyle/>
          <a:p>
            <a:r>
              <a:rPr lang="en-IN" b="1" dirty="0"/>
              <a:t>SELECT L.DISTRICT, W.HUMIDITY, W.VISIBILITY, COUNT(A.ID) AS HIGH_ACCIDENTFROM ACCIDENT AJOIN LOCATION L ON A.ID=L.IDJOIN WEATHER W ON A.ID=W.IDWHERE W.HUMIDITY &gt; 70 AND W.VISIBILITY &lt; 5 GROUP BY L.DISTRICT, W.HUMIDITY, W.VISIBILITY ORDER BY HIGH_ACCIDENT DESC LIMIT 10;</a:t>
            </a:r>
          </a:p>
        </p:txBody>
      </p:sp>
      <p:sp>
        <p:nvSpPr>
          <p:cNvPr id="12" name="TextBox 11">
            <a:extLst>
              <a:ext uri="{FF2B5EF4-FFF2-40B4-BE49-F238E27FC236}">
                <a16:creationId xmlns:a16="http://schemas.microsoft.com/office/drawing/2014/main" id="{29D04F04-4862-758A-A1F5-D3A9CC8EBF33}"/>
              </a:ext>
            </a:extLst>
          </p:cNvPr>
          <p:cNvSpPr txBox="1"/>
          <p:nvPr/>
        </p:nvSpPr>
        <p:spPr>
          <a:xfrm>
            <a:off x="217600" y="1981200"/>
            <a:ext cx="3399360" cy="523220"/>
          </a:xfrm>
          <a:prstGeom prst="rect">
            <a:avLst/>
          </a:prstGeom>
          <a:noFill/>
        </p:spPr>
        <p:txBody>
          <a:bodyPr wrap="square" rtlCol="0">
            <a:spAutoFit/>
          </a:bodyPr>
          <a:lstStyle/>
          <a:p>
            <a:r>
              <a:rPr lang="en-IN" sz="2800" b="1" dirty="0"/>
              <a:t>Explanation:</a:t>
            </a:r>
          </a:p>
        </p:txBody>
      </p:sp>
      <p:sp>
        <p:nvSpPr>
          <p:cNvPr id="13" name="TextBox 12">
            <a:extLst>
              <a:ext uri="{FF2B5EF4-FFF2-40B4-BE49-F238E27FC236}">
                <a16:creationId xmlns:a16="http://schemas.microsoft.com/office/drawing/2014/main" id="{E99AD40B-6E4E-53DE-F265-A8BD8B294395}"/>
              </a:ext>
            </a:extLst>
          </p:cNvPr>
          <p:cNvSpPr txBox="1"/>
          <p:nvPr/>
        </p:nvSpPr>
        <p:spPr>
          <a:xfrm>
            <a:off x="214259" y="4023709"/>
            <a:ext cx="2901520" cy="523220"/>
          </a:xfrm>
          <a:prstGeom prst="rect">
            <a:avLst/>
          </a:prstGeom>
          <a:noFill/>
        </p:spPr>
        <p:txBody>
          <a:bodyPr wrap="square" rtlCol="0">
            <a:spAutoFit/>
          </a:bodyPr>
          <a:lstStyle/>
          <a:p>
            <a:r>
              <a:rPr lang="en-IN" sz="2800" b="1" dirty="0"/>
              <a:t>Solution:</a:t>
            </a:r>
          </a:p>
        </p:txBody>
      </p:sp>
      <p:sp>
        <p:nvSpPr>
          <p:cNvPr id="15" name="TextBox 14">
            <a:extLst>
              <a:ext uri="{FF2B5EF4-FFF2-40B4-BE49-F238E27FC236}">
                <a16:creationId xmlns:a16="http://schemas.microsoft.com/office/drawing/2014/main" id="{6685CF71-01E3-37A6-5DFC-478A47BA4571}"/>
              </a:ext>
            </a:extLst>
          </p:cNvPr>
          <p:cNvSpPr txBox="1"/>
          <p:nvPr/>
        </p:nvSpPr>
        <p:spPr>
          <a:xfrm>
            <a:off x="214259" y="2500215"/>
            <a:ext cx="5207465" cy="1938992"/>
          </a:xfrm>
          <a:prstGeom prst="rect">
            <a:avLst/>
          </a:prstGeom>
          <a:noFill/>
        </p:spPr>
        <p:txBody>
          <a:bodyPr wrap="square" rtlCol="0">
            <a:spAutoFit/>
          </a:bodyPr>
          <a:lstStyle/>
          <a:p>
            <a:r>
              <a:rPr lang="en-US" sz="2000" dirty="0"/>
              <a:t>This query helps identify districts with more accidents during:</a:t>
            </a:r>
          </a:p>
          <a:p>
            <a:r>
              <a:rPr lang="en-US" sz="2000" dirty="0"/>
              <a:t>High humidity and Low visibility conditions </a:t>
            </a:r>
          </a:p>
          <a:p>
            <a:r>
              <a:rPr lang="en-US" sz="2000" dirty="0"/>
              <a:t>It helps analyze accident risk in bad weather environments</a:t>
            </a:r>
            <a:r>
              <a:rPr lang="en-US" dirty="0"/>
              <a:t>.</a:t>
            </a:r>
          </a:p>
          <a:p>
            <a:pPr fontAlgn="base">
              <a:spcBef>
                <a:spcPct val="0"/>
              </a:spcBef>
              <a:spcAft>
                <a:spcPct val="0"/>
              </a:spcAft>
            </a:pPr>
            <a:endParaRPr lang="en-US" altLang="en-US" sz="2000" dirty="0"/>
          </a:p>
        </p:txBody>
      </p:sp>
      <p:sp>
        <p:nvSpPr>
          <p:cNvPr id="19" name="TextBox 18">
            <a:extLst>
              <a:ext uri="{FF2B5EF4-FFF2-40B4-BE49-F238E27FC236}">
                <a16:creationId xmlns:a16="http://schemas.microsoft.com/office/drawing/2014/main" id="{28A586F9-FBCF-9AC8-5C5C-2832099650BC}"/>
              </a:ext>
            </a:extLst>
          </p:cNvPr>
          <p:cNvSpPr txBox="1"/>
          <p:nvPr/>
        </p:nvSpPr>
        <p:spPr>
          <a:xfrm>
            <a:off x="214259" y="4564073"/>
            <a:ext cx="5919700" cy="2400657"/>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dirty="0">
                <a:latin typeface="Arial" panose="020B0604020202020204" pitchFamily="34" charset="0"/>
              </a:rPr>
              <a:t>Improve visibility support in risky areas </a:t>
            </a:r>
          </a:p>
          <a:p>
            <a:pPr lvl="0" eaLnBrk="0" fontAlgn="base" hangingPunct="0">
              <a:spcBef>
                <a:spcPct val="0"/>
              </a:spcBef>
              <a:spcAft>
                <a:spcPct val="0"/>
              </a:spcAft>
              <a:buFontTx/>
              <a:buChar char="•"/>
            </a:pPr>
            <a:r>
              <a:rPr lang="en-US" altLang="en-US" dirty="0">
                <a:latin typeface="Arial" panose="020B0604020202020204" pitchFamily="34" charset="0"/>
              </a:rPr>
              <a:t>Use weather warning alerts for drivers </a:t>
            </a:r>
          </a:p>
          <a:p>
            <a:pPr lvl="0" eaLnBrk="0" fontAlgn="base" hangingPunct="0">
              <a:spcBef>
                <a:spcPct val="0"/>
              </a:spcBef>
              <a:spcAft>
                <a:spcPct val="0"/>
              </a:spcAft>
              <a:buFontTx/>
              <a:buChar char="•"/>
            </a:pPr>
            <a:r>
              <a:rPr lang="en-US" altLang="en-US" dirty="0">
                <a:latin typeface="Arial" panose="020B0604020202020204" pitchFamily="34" charset="0"/>
              </a:rPr>
              <a:t>Add caution signs in low-visibility zones </a:t>
            </a:r>
          </a:p>
          <a:p>
            <a:pPr lvl="0" eaLnBrk="0" fontAlgn="base" hangingPunct="0">
              <a:spcBef>
                <a:spcPct val="0"/>
              </a:spcBef>
              <a:spcAft>
                <a:spcPct val="0"/>
              </a:spcAft>
              <a:buFontTx/>
              <a:buChar char="•"/>
            </a:pPr>
            <a:r>
              <a:rPr lang="en-US" altLang="en-US" dirty="0">
                <a:latin typeface="Arial" panose="020B0604020202020204" pitchFamily="34" charset="0"/>
              </a:rPr>
              <a:t>Encourage careful driving during adverse weather conditions </a:t>
            </a:r>
          </a:p>
          <a:p>
            <a:pPr lvl="0" fontAlgn="base">
              <a:spcBef>
                <a:spcPct val="0"/>
              </a:spcBef>
              <a:spcAft>
                <a:spcPct val="0"/>
              </a:spcAft>
            </a:pPr>
            <a:endParaRPr lang="en-US" altLang="en-US" sz="2000" dirty="0"/>
          </a:p>
          <a:p>
            <a:pPr fontAlgn="base">
              <a:spcBef>
                <a:spcPct val="0"/>
              </a:spcBef>
              <a:spcAft>
                <a:spcPct val="0"/>
              </a:spcAft>
            </a:pPr>
            <a:endParaRPr lang="en-US" sz="2000" b="1" dirty="0"/>
          </a:p>
          <a:p>
            <a:endParaRPr lang="en-IN" sz="2000" b="1" dirty="0"/>
          </a:p>
        </p:txBody>
      </p:sp>
      <p:pic>
        <p:nvPicPr>
          <p:cNvPr id="5" name="Picture 4">
            <a:extLst>
              <a:ext uri="{FF2B5EF4-FFF2-40B4-BE49-F238E27FC236}">
                <a16:creationId xmlns:a16="http://schemas.microsoft.com/office/drawing/2014/main" id="{106CE82F-0C30-B6A5-231A-658A27062F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0278" y="3361365"/>
            <a:ext cx="4906060" cy="2905530"/>
          </a:xfrm>
          <a:prstGeom prst="rect">
            <a:avLst/>
          </a:prstGeom>
        </p:spPr>
      </p:pic>
    </p:spTree>
    <p:extLst>
      <p:ext uri="{BB962C8B-B14F-4D97-AF65-F5344CB8AC3E}">
        <p14:creationId xmlns:p14="http://schemas.microsoft.com/office/powerpoint/2010/main" val="2783024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9">
          <a:extLst>
            <a:ext uri="{FF2B5EF4-FFF2-40B4-BE49-F238E27FC236}">
              <a16:creationId xmlns:a16="http://schemas.microsoft.com/office/drawing/2014/main" id="{805D5F9B-DF3D-D412-4EA6-AC34CDEF6188}"/>
            </a:ext>
          </a:extLst>
        </p:cNvPr>
        <p:cNvGrpSpPr/>
        <p:nvPr/>
      </p:nvGrpSpPr>
      <p:grpSpPr>
        <a:xfrm>
          <a:off x="0" y="0"/>
          <a:ext cx="0" cy="0"/>
          <a:chOff x="0" y="0"/>
          <a:chExt cx="0" cy="0"/>
        </a:xfrm>
      </p:grpSpPr>
      <p:sp>
        <p:nvSpPr>
          <p:cNvPr id="351" name="Google Shape;351;p15">
            <a:extLst>
              <a:ext uri="{FF2B5EF4-FFF2-40B4-BE49-F238E27FC236}">
                <a16:creationId xmlns:a16="http://schemas.microsoft.com/office/drawing/2014/main" id="{AA91F063-55FD-DA8C-D078-FF0A46D9DE46}"/>
              </a:ext>
            </a:extLst>
          </p:cNvPr>
          <p:cNvSpPr txBox="1">
            <a:spLocks noGrp="1"/>
          </p:cNvSpPr>
          <p:nvPr>
            <p:ph type="ctrTitle"/>
          </p:nvPr>
        </p:nvSpPr>
        <p:spPr>
          <a:xfrm>
            <a:off x="0" y="79389"/>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Python-Based Data Visualization Insights</a:t>
            </a:r>
            <a:endParaRPr sz="4000" b="1" dirty="0">
              <a:solidFill>
                <a:srgbClr val="FFFFFF"/>
              </a:solidFill>
              <a:latin typeface="Roboto"/>
              <a:ea typeface="Roboto"/>
              <a:cs typeface="Roboto"/>
              <a:sym typeface="Roboto"/>
            </a:endParaRPr>
          </a:p>
        </p:txBody>
      </p:sp>
      <p:sp>
        <p:nvSpPr>
          <p:cNvPr id="352" name="Google Shape;352;p15">
            <a:extLst>
              <a:ext uri="{FF2B5EF4-FFF2-40B4-BE49-F238E27FC236}">
                <a16:creationId xmlns:a16="http://schemas.microsoft.com/office/drawing/2014/main" id="{0B4F4E98-DD89-A6C8-3D1D-9A3AD3D75054}"/>
              </a:ext>
            </a:extLst>
          </p:cNvPr>
          <p:cNvSpPr txBox="1"/>
          <p:nvPr/>
        </p:nvSpPr>
        <p:spPr>
          <a:xfrm>
            <a:off x="-281280" y="1069600"/>
            <a:ext cx="12192000" cy="5331199"/>
          </a:xfrm>
          <a:prstGeom prst="rect">
            <a:avLst/>
          </a:prstGeom>
          <a:noFill/>
          <a:ln>
            <a:noFill/>
          </a:ln>
        </p:spPr>
        <p:txBody>
          <a:bodyPr spcFirstLastPara="1" wrap="square" lIns="365733" tIns="365733" rIns="365733" bIns="365733" anchor="t" anchorCtr="0">
            <a:noAutofit/>
          </a:bodyPr>
          <a:lstStyle/>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endParaRPr sz="2667" dirty="0">
              <a:solidFill>
                <a:schemeClr val="dk1"/>
              </a:solidFill>
              <a:latin typeface="Roboto"/>
              <a:ea typeface="Roboto"/>
              <a:cs typeface="Roboto"/>
              <a:sym typeface="Roboto"/>
            </a:endParaRPr>
          </a:p>
        </p:txBody>
      </p:sp>
      <p:sp>
        <p:nvSpPr>
          <p:cNvPr id="353" name="Google Shape;353;p15">
            <a:extLst>
              <a:ext uri="{FF2B5EF4-FFF2-40B4-BE49-F238E27FC236}">
                <a16:creationId xmlns:a16="http://schemas.microsoft.com/office/drawing/2014/main" id="{BE30B8D0-01C7-2DE3-F3C8-CFF7A28E5548}"/>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54" name="Google Shape;354;p15">
            <a:extLst>
              <a:ext uri="{FF2B5EF4-FFF2-40B4-BE49-F238E27FC236}">
                <a16:creationId xmlns:a16="http://schemas.microsoft.com/office/drawing/2014/main" id="{F2DA0FAB-1A62-7EFA-709C-95220E9A6403}"/>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55" name="Google Shape;355;p15">
            <a:extLst>
              <a:ext uri="{FF2B5EF4-FFF2-40B4-BE49-F238E27FC236}">
                <a16:creationId xmlns:a16="http://schemas.microsoft.com/office/drawing/2014/main" id="{6F17BFC5-1673-0E9A-63D3-9FB035E340FB}"/>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4" name="TextBox 3">
            <a:extLst>
              <a:ext uri="{FF2B5EF4-FFF2-40B4-BE49-F238E27FC236}">
                <a16:creationId xmlns:a16="http://schemas.microsoft.com/office/drawing/2014/main" id="{4176BCBF-975D-876F-F56B-43D83FFB3766}"/>
              </a:ext>
            </a:extLst>
          </p:cNvPr>
          <p:cNvSpPr txBox="1"/>
          <p:nvPr/>
        </p:nvSpPr>
        <p:spPr>
          <a:xfrm>
            <a:off x="214260" y="1218465"/>
            <a:ext cx="6620080" cy="461665"/>
          </a:xfrm>
          <a:prstGeom prst="rect">
            <a:avLst/>
          </a:prstGeom>
          <a:noFill/>
        </p:spPr>
        <p:txBody>
          <a:bodyPr wrap="square" rtlCol="0">
            <a:spAutoFit/>
          </a:bodyPr>
          <a:lstStyle/>
          <a:p>
            <a:r>
              <a:rPr lang="en-IN" sz="2400" b="1" dirty="0"/>
              <a:t>Hour-wise Accident Analysis</a:t>
            </a:r>
          </a:p>
        </p:txBody>
      </p:sp>
      <p:sp>
        <p:nvSpPr>
          <p:cNvPr id="12" name="TextBox 11">
            <a:extLst>
              <a:ext uri="{FF2B5EF4-FFF2-40B4-BE49-F238E27FC236}">
                <a16:creationId xmlns:a16="http://schemas.microsoft.com/office/drawing/2014/main" id="{61CC13F8-AF6B-195C-FA00-9E788F462447}"/>
              </a:ext>
            </a:extLst>
          </p:cNvPr>
          <p:cNvSpPr txBox="1"/>
          <p:nvPr/>
        </p:nvSpPr>
        <p:spPr>
          <a:xfrm>
            <a:off x="217600" y="1981200"/>
            <a:ext cx="3399360" cy="523220"/>
          </a:xfrm>
          <a:prstGeom prst="rect">
            <a:avLst/>
          </a:prstGeom>
          <a:noFill/>
        </p:spPr>
        <p:txBody>
          <a:bodyPr wrap="square" rtlCol="0">
            <a:spAutoFit/>
          </a:bodyPr>
          <a:lstStyle/>
          <a:p>
            <a:r>
              <a:rPr lang="en-IN" sz="2800" b="1" dirty="0"/>
              <a:t>Explanation:</a:t>
            </a:r>
          </a:p>
        </p:txBody>
      </p:sp>
      <p:sp>
        <p:nvSpPr>
          <p:cNvPr id="13" name="TextBox 12">
            <a:extLst>
              <a:ext uri="{FF2B5EF4-FFF2-40B4-BE49-F238E27FC236}">
                <a16:creationId xmlns:a16="http://schemas.microsoft.com/office/drawing/2014/main" id="{BD4F7F83-398F-F42D-0D92-296616B164F1}"/>
              </a:ext>
            </a:extLst>
          </p:cNvPr>
          <p:cNvSpPr txBox="1"/>
          <p:nvPr/>
        </p:nvSpPr>
        <p:spPr>
          <a:xfrm>
            <a:off x="214259" y="4023709"/>
            <a:ext cx="2901520" cy="523220"/>
          </a:xfrm>
          <a:prstGeom prst="rect">
            <a:avLst/>
          </a:prstGeom>
          <a:noFill/>
        </p:spPr>
        <p:txBody>
          <a:bodyPr wrap="square" rtlCol="0">
            <a:spAutoFit/>
          </a:bodyPr>
          <a:lstStyle/>
          <a:p>
            <a:r>
              <a:rPr lang="en-IN" sz="2800" b="1" dirty="0"/>
              <a:t>Solution:</a:t>
            </a:r>
          </a:p>
        </p:txBody>
      </p:sp>
      <p:sp>
        <p:nvSpPr>
          <p:cNvPr id="15" name="TextBox 14">
            <a:extLst>
              <a:ext uri="{FF2B5EF4-FFF2-40B4-BE49-F238E27FC236}">
                <a16:creationId xmlns:a16="http://schemas.microsoft.com/office/drawing/2014/main" id="{FDB2151D-A79A-94E2-803F-E6D462B3EE1C}"/>
              </a:ext>
            </a:extLst>
          </p:cNvPr>
          <p:cNvSpPr txBox="1"/>
          <p:nvPr/>
        </p:nvSpPr>
        <p:spPr>
          <a:xfrm>
            <a:off x="214259" y="2500215"/>
            <a:ext cx="5207465" cy="1200329"/>
          </a:xfrm>
          <a:prstGeom prst="rect">
            <a:avLst/>
          </a:prstGeom>
          <a:noFill/>
        </p:spPr>
        <p:txBody>
          <a:bodyPr wrap="square" rtlCol="0">
            <a:spAutoFit/>
          </a:bodyPr>
          <a:lstStyle/>
          <a:p>
            <a:pPr fontAlgn="base">
              <a:spcBef>
                <a:spcPct val="0"/>
              </a:spcBef>
              <a:spcAft>
                <a:spcPct val="0"/>
              </a:spcAft>
            </a:pPr>
            <a:r>
              <a:rPr lang="en-US" dirty="0"/>
              <a:t>This code extracts the hour from accident start time and groups data to count accidents for each hour. It helps to understand at what time accidents happen most.</a:t>
            </a:r>
            <a:endParaRPr lang="en-US" altLang="en-US" dirty="0"/>
          </a:p>
        </p:txBody>
      </p:sp>
      <p:sp>
        <p:nvSpPr>
          <p:cNvPr id="19" name="TextBox 18">
            <a:extLst>
              <a:ext uri="{FF2B5EF4-FFF2-40B4-BE49-F238E27FC236}">
                <a16:creationId xmlns:a16="http://schemas.microsoft.com/office/drawing/2014/main" id="{8FB92F88-AF34-C0ED-0E05-00F07FABCF08}"/>
              </a:ext>
            </a:extLst>
          </p:cNvPr>
          <p:cNvSpPr txBox="1"/>
          <p:nvPr/>
        </p:nvSpPr>
        <p:spPr>
          <a:xfrm>
            <a:off x="214259" y="4564073"/>
            <a:ext cx="5919700" cy="1261884"/>
          </a:xfrm>
          <a:prstGeom prst="rect">
            <a:avLst/>
          </a:prstGeom>
          <a:noFill/>
        </p:spPr>
        <p:txBody>
          <a:bodyPr wrap="square" rtlCol="0">
            <a:spAutoFit/>
          </a:bodyPr>
          <a:lstStyle/>
          <a:p>
            <a:pPr lvl="0" fontAlgn="base">
              <a:spcBef>
                <a:spcPct val="0"/>
              </a:spcBef>
              <a:spcAft>
                <a:spcPct val="0"/>
              </a:spcAft>
            </a:pPr>
            <a:r>
              <a:rPr lang="en-US" dirty="0"/>
              <a:t>Increase traffic control and safety measures during peak traffic hours to reduce accidents. Focus should be on better signal management, awareness, and monitoring.</a:t>
            </a:r>
            <a:endParaRPr lang="en-US" sz="2000" b="1" dirty="0"/>
          </a:p>
          <a:p>
            <a:endParaRPr lang="en-IN" sz="2000" b="1" dirty="0"/>
          </a:p>
        </p:txBody>
      </p:sp>
      <p:pic>
        <p:nvPicPr>
          <p:cNvPr id="3" name="Picture 2">
            <a:extLst>
              <a:ext uri="{FF2B5EF4-FFF2-40B4-BE49-F238E27FC236}">
                <a16:creationId xmlns:a16="http://schemas.microsoft.com/office/drawing/2014/main" id="{352EC8E0-892F-21A5-5636-BFC268D90C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5903" y="1253666"/>
            <a:ext cx="6020640" cy="4963068"/>
          </a:xfrm>
          <a:prstGeom prst="rect">
            <a:avLst/>
          </a:prstGeom>
        </p:spPr>
      </p:pic>
    </p:spTree>
    <p:extLst>
      <p:ext uri="{BB962C8B-B14F-4D97-AF65-F5344CB8AC3E}">
        <p14:creationId xmlns:p14="http://schemas.microsoft.com/office/powerpoint/2010/main" val="3775375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9">
          <a:extLst>
            <a:ext uri="{FF2B5EF4-FFF2-40B4-BE49-F238E27FC236}">
              <a16:creationId xmlns:a16="http://schemas.microsoft.com/office/drawing/2014/main" id="{A744D0CC-4CA7-A094-1BDC-C3AE7CF6C179}"/>
            </a:ext>
          </a:extLst>
        </p:cNvPr>
        <p:cNvGrpSpPr/>
        <p:nvPr/>
      </p:nvGrpSpPr>
      <p:grpSpPr>
        <a:xfrm>
          <a:off x="0" y="0"/>
          <a:ext cx="0" cy="0"/>
          <a:chOff x="0" y="0"/>
          <a:chExt cx="0" cy="0"/>
        </a:xfrm>
      </p:grpSpPr>
      <p:sp>
        <p:nvSpPr>
          <p:cNvPr id="351" name="Google Shape;351;p15">
            <a:extLst>
              <a:ext uri="{FF2B5EF4-FFF2-40B4-BE49-F238E27FC236}">
                <a16:creationId xmlns:a16="http://schemas.microsoft.com/office/drawing/2014/main" id="{BA7E03C2-76E9-7D7E-F52E-AA6BAD0DE813}"/>
              </a:ext>
            </a:extLst>
          </p:cNvPr>
          <p:cNvSpPr txBox="1">
            <a:spLocks noGrp="1"/>
          </p:cNvSpPr>
          <p:nvPr>
            <p:ph type="ctrTitle"/>
          </p:nvPr>
        </p:nvSpPr>
        <p:spPr>
          <a:xfrm>
            <a:off x="0" y="79389"/>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Python-Based Data Visualization Insights</a:t>
            </a:r>
            <a:endParaRPr sz="4000" b="1" dirty="0">
              <a:solidFill>
                <a:srgbClr val="FFFFFF"/>
              </a:solidFill>
              <a:latin typeface="Roboto"/>
              <a:ea typeface="Roboto"/>
              <a:cs typeface="Roboto"/>
              <a:sym typeface="Roboto"/>
            </a:endParaRPr>
          </a:p>
        </p:txBody>
      </p:sp>
      <p:sp>
        <p:nvSpPr>
          <p:cNvPr id="352" name="Google Shape;352;p15">
            <a:extLst>
              <a:ext uri="{FF2B5EF4-FFF2-40B4-BE49-F238E27FC236}">
                <a16:creationId xmlns:a16="http://schemas.microsoft.com/office/drawing/2014/main" id="{EC2E87C0-3B82-A256-F909-ED86A15F3D97}"/>
              </a:ext>
            </a:extLst>
          </p:cNvPr>
          <p:cNvSpPr txBox="1"/>
          <p:nvPr/>
        </p:nvSpPr>
        <p:spPr>
          <a:xfrm>
            <a:off x="-281280" y="1069600"/>
            <a:ext cx="12192000" cy="5331199"/>
          </a:xfrm>
          <a:prstGeom prst="rect">
            <a:avLst/>
          </a:prstGeom>
          <a:noFill/>
          <a:ln>
            <a:noFill/>
          </a:ln>
        </p:spPr>
        <p:txBody>
          <a:bodyPr spcFirstLastPara="1" wrap="square" lIns="365733" tIns="365733" rIns="365733" bIns="365733" anchor="t" anchorCtr="0">
            <a:noAutofit/>
          </a:bodyPr>
          <a:lstStyle/>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endParaRPr sz="2667" dirty="0">
              <a:solidFill>
                <a:schemeClr val="dk1"/>
              </a:solidFill>
              <a:latin typeface="Roboto"/>
              <a:ea typeface="Roboto"/>
              <a:cs typeface="Roboto"/>
              <a:sym typeface="Roboto"/>
            </a:endParaRPr>
          </a:p>
        </p:txBody>
      </p:sp>
      <p:sp>
        <p:nvSpPr>
          <p:cNvPr id="353" name="Google Shape;353;p15">
            <a:extLst>
              <a:ext uri="{FF2B5EF4-FFF2-40B4-BE49-F238E27FC236}">
                <a16:creationId xmlns:a16="http://schemas.microsoft.com/office/drawing/2014/main" id="{F46AA0D1-D22B-A278-D321-6AF95985D16D}"/>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54" name="Google Shape;354;p15">
            <a:extLst>
              <a:ext uri="{FF2B5EF4-FFF2-40B4-BE49-F238E27FC236}">
                <a16:creationId xmlns:a16="http://schemas.microsoft.com/office/drawing/2014/main" id="{356DDE90-A5DE-E105-2A64-D748D5F7663A}"/>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55" name="Google Shape;355;p15">
            <a:extLst>
              <a:ext uri="{FF2B5EF4-FFF2-40B4-BE49-F238E27FC236}">
                <a16:creationId xmlns:a16="http://schemas.microsoft.com/office/drawing/2014/main" id="{B4C74E41-68E3-CB59-99E3-557D11CCC5B4}"/>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4" name="TextBox 3">
            <a:extLst>
              <a:ext uri="{FF2B5EF4-FFF2-40B4-BE49-F238E27FC236}">
                <a16:creationId xmlns:a16="http://schemas.microsoft.com/office/drawing/2014/main" id="{EA6CE11A-B236-0DC2-9F11-42D84A6039CE}"/>
              </a:ext>
            </a:extLst>
          </p:cNvPr>
          <p:cNvSpPr txBox="1"/>
          <p:nvPr/>
        </p:nvSpPr>
        <p:spPr>
          <a:xfrm>
            <a:off x="214260" y="1218465"/>
            <a:ext cx="6620080" cy="400110"/>
          </a:xfrm>
          <a:prstGeom prst="rect">
            <a:avLst/>
          </a:prstGeom>
          <a:noFill/>
        </p:spPr>
        <p:txBody>
          <a:bodyPr wrap="square" rtlCol="0">
            <a:spAutoFit/>
          </a:bodyPr>
          <a:lstStyle/>
          <a:p>
            <a:r>
              <a:rPr lang="en-US" sz="2000" b="1" dirty="0"/>
              <a:t>Accident Trends by Road Features During Rush Hours</a:t>
            </a:r>
            <a:endParaRPr lang="en-IN" sz="2000" b="1" dirty="0"/>
          </a:p>
        </p:txBody>
      </p:sp>
      <p:sp>
        <p:nvSpPr>
          <p:cNvPr id="12" name="TextBox 11">
            <a:extLst>
              <a:ext uri="{FF2B5EF4-FFF2-40B4-BE49-F238E27FC236}">
                <a16:creationId xmlns:a16="http://schemas.microsoft.com/office/drawing/2014/main" id="{CD2B8984-1442-A831-EF18-349573A8493E}"/>
              </a:ext>
            </a:extLst>
          </p:cNvPr>
          <p:cNvSpPr txBox="1"/>
          <p:nvPr/>
        </p:nvSpPr>
        <p:spPr>
          <a:xfrm>
            <a:off x="217600" y="1981200"/>
            <a:ext cx="3399360" cy="523220"/>
          </a:xfrm>
          <a:prstGeom prst="rect">
            <a:avLst/>
          </a:prstGeom>
          <a:noFill/>
        </p:spPr>
        <p:txBody>
          <a:bodyPr wrap="square" rtlCol="0">
            <a:spAutoFit/>
          </a:bodyPr>
          <a:lstStyle/>
          <a:p>
            <a:r>
              <a:rPr lang="en-IN" sz="2800" b="1" dirty="0"/>
              <a:t>Explanation:</a:t>
            </a:r>
          </a:p>
        </p:txBody>
      </p:sp>
      <p:sp>
        <p:nvSpPr>
          <p:cNvPr id="13" name="TextBox 12">
            <a:extLst>
              <a:ext uri="{FF2B5EF4-FFF2-40B4-BE49-F238E27FC236}">
                <a16:creationId xmlns:a16="http://schemas.microsoft.com/office/drawing/2014/main" id="{EBA26D7B-86D3-BB7D-C1CB-C3A39D1367C3}"/>
              </a:ext>
            </a:extLst>
          </p:cNvPr>
          <p:cNvSpPr txBox="1"/>
          <p:nvPr/>
        </p:nvSpPr>
        <p:spPr>
          <a:xfrm>
            <a:off x="214259" y="4023709"/>
            <a:ext cx="2901520" cy="523220"/>
          </a:xfrm>
          <a:prstGeom prst="rect">
            <a:avLst/>
          </a:prstGeom>
          <a:noFill/>
        </p:spPr>
        <p:txBody>
          <a:bodyPr wrap="square" rtlCol="0">
            <a:spAutoFit/>
          </a:bodyPr>
          <a:lstStyle/>
          <a:p>
            <a:r>
              <a:rPr lang="en-IN" sz="2800" b="1" dirty="0"/>
              <a:t>Solution:</a:t>
            </a:r>
          </a:p>
        </p:txBody>
      </p:sp>
      <p:sp>
        <p:nvSpPr>
          <p:cNvPr id="15" name="TextBox 14">
            <a:extLst>
              <a:ext uri="{FF2B5EF4-FFF2-40B4-BE49-F238E27FC236}">
                <a16:creationId xmlns:a16="http://schemas.microsoft.com/office/drawing/2014/main" id="{EB0928EE-5A4D-0950-94B5-89D4DC829113}"/>
              </a:ext>
            </a:extLst>
          </p:cNvPr>
          <p:cNvSpPr txBox="1"/>
          <p:nvPr/>
        </p:nvSpPr>
        <p:spPr>
          <a:xfrm>
            <a:off x="214259" y="2500215"/>
            <a:ext cx="5207465" cy="1200329"/>
          </a:xfrm>
          <a:prstGeom prst="rect">
            <a:avLst/>
          </a:prstGeom>
          <a:noFill/>
        </p:spPr>
        <p:txBody>
          <a:bodyPr wrap="square" rtlCol="0">
            <a:spAutoFit/>
          </a:bodyPr>
          <a:lstStyle/>
          <a:p>
            <a:pPr fontAlgn="base">
              <a:spcBef>
                <a:spcPct val="0"/>
              </a:spcBef>
              <a:spcAft>
                <a:spcPct val="0"/>
              </a:spcAft>
            </a:pPr>
            <a:r>
              <a:rPr lang="en-US" dirty="0"/>
              <a:t>This code filters rush hour data and counts accidents based on road features like traffic signals, crossings, junctions, and stops. It helps to find which road elements contribute more to accidents.</a:t>
            </a:r>
            <a:endParaRPr lang="en-US" altLang="en-US" dirty="0"/>
          </a:p>
        </p:txBody>
      </p:sp>
      <p:sp>
        <p:nvSpPr>
          <p:cNvPr id="19" name="TextBox 18">
            <a:extLst>
              <a:ext uri="{FF2B5EF4-FFF2-40B4-BE49-F238E27FC236}">
                <a16:creationId xmlns:a16="http://schemas.microsoft.com/office/drawing/2014/main" id="{E28920D8-3DCF-1B6F-8A7C-7C15263FBE47}"/>
              </a:ext>
            </a:extLst>
          </p:cNvPr>
          <p:cNvSpPr txBox="1"/>
          <p:nvPr/>
        </p:nvSpPr>
        <p:spPr>
          <a:xfrm>
            <a:off x="214259" y="4564073"/>
            <a:ext cx="5919700" cy="1200329"/>
          </a:xfrm>
          <a:prstGeom prst="rect">
            <a:avLst/>
          </a:prstGeom>
          <a:noFill/>
        </p:spPr>
        <p:txBody>
          <a:bodyPr wrap="square" rtlCol="0">
            <a:spAutoFit/>
          </a:bodyPr>
          <a:lstStyle/>
          <a:p>
            <a:pPr lvl="0" fontAlgn="base">
              <a:spcBef>
                <a:spcPct val="0"/>
              </a:spcBef>
              <a:spcAft>
                <a:spcPct val="0"/>
              </a:spcAft>
            </a:pPr>
            <a:r>
              <a:rPr lang="en-US" dirty="0"/>
              <a:t>Improve road infrastructure and safety measures at traffic signals, crossings, junctions, and stop areas. Better monitoring and traffic management can reduce accidents in these locations.</a:t>
            </a:r>
            <a:endParaRPr lang="en-IN" sz="2000" b="1" dirty="0"/>
          </a:p>
        </p:txBody>
      </p:sp>
      <p:pic>
        <p:nvPicPr>
          <p:cNvPr id="5" name="Picture 4">
            <a:extLst>
              <a:ext uri="{FF2B5EF4-FFF2-40B4-BE49-F238E27FC236}">
                <a16:creationId xmlns:a16="http://schemas.microsoft.com/office/drawing/2014/main" id="{B33A7426-E833-D441-F020-768F0BC541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8361" y="1120544"/>
            <a:ext cx="5919700" cy="5293954"/>
          </a:xfrm>
          <a:prstGeom prst="rect">
            <a:avLst/>
          </a:prstGeom>
        </p:spPr>
      </p:pic>
    </p:spTree>
    <p:extLst>
      <p:ext uri="{BB962C8B-B14F-4D97-AF65-F5344CB8AC3E}">
        <p14:creationId xmlns:p14="http://schemas.microsoft.com/office/powerpoint/2010/main" val="1271556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9">
          <a:extLst>
            <a:ext uri="{FF2B5EF4-FFF2-40B4-BE49-F238E27FC236}">
              <a16:creationId xmlns:a16="http://schemas.microsoft.com/office/drawing/2014/main" id="{62468E02-BDFA-4889-EBB7-14C0439F4D7E}"/>
            </a:ext>
          </a:extLst>
        </p:cNvPr>
        <p:cNvGrpSpPr/>
        <p:nvPr/>
      </p:nvGrpSpPr>
      <p:grpSpPr>
        <a:xfrm>
          <a:off x="0" y="0"/>
          <a:ext cx="0" cy="0"/>
          <a:chOff x="0" y="0"/>
          <a:chExt cx="0" cy="0"/>
        </a:xfrm>
      </p:grpSpPr>
      <p:sp>
        <p:nvSpPr>
          <p:cNvPr id="351" name="Google Shape;351;p15">
            <a:extLst>
              <a:ext uri="{FF2B5EF4-FFF2-40B4-BE49-F238E27FC236}">
                <a16:creationId xmlns:a16="http://schemas.microsoft.com/office/drawing/2014/main" id="{7EA18792-42E1-3876-0FBA-76731C5E1395}"/>
              </a:ext>
            </a:extLst>
          </p:cNvPr>
          <p:cNvSpPr txBox="1">
            <a:spLocks noGrp="1"/>
          </p:cNvSpPr>
          <p:nvPr>
            <p:ph type="ctrTitle"/>
          </p:nvPr>
        </p:nvSpPr>
        <p:spPr>
          <a:xfrm>
            <a:off x="0" y="79389"/>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Python-Based Data Visualization Insights</a:t>
            </a:r>
            <a:endParaRPr sz="4000" b="1" dirty="0">
              <a:solidFill>
                <a:srgbClr val="FFFFFF"/>
              </a:solidFill>
              <a:latin typeface="Roboto"/>
              <a:ea typeface="Roboto"/>
              <a:cs typeface="Roboto"/>
              <a:sym typeface="Roboto"/>
            </a:endParaRPr>
          </a:p>
        </p:txBody>
      </p:sp>
      <p:sp>
        <p:nvSpPr>
          <p:cNvPr id="352" name="Google Shape;352;p15">
            <a:extLst>
              <a:ext uri="{FF2B5EF4-FFF2-40B4-BE49-F238E27FC236}">
                <a16:creationId xmlns:a16="http://schemas.microsoft.com/office/drawing/2014/main" id="{580E2352-B712-4896-CE0B-991B551E93A8}"/>
              </a:ext>
            </a:extLst>
          </p:cNvPr>
          <p:cNvSpPr txBox="1"/>
          <p:nvPr/>
        </p:nvSpPr>
        <p:spPr>
          <a:xfrm>
            <a:off x="-281280" y="1069600"/>
            <a:ext cx="12192000" cy="5331199"/>
          </a:xfrm>
          <a:prstGeom prst="rect">
            <a:avLst/>
          </a:prstGeom>
          <a:noFill/>
          <a:ln>
            <a:noFill/>
          </a:ln>
        </p:spPr>
        <p:txBody>
          <a:bodyPr spcFirstLastPara="1" wrap="square" lIns="365733" tIns="365733" rIns="365733" bIns="365733" anchor="t" anchorCtr="0">
            <a:noAutofit/>
          </a:bodyPr>
          <a:lstStyle/>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p>
          <a:p>
            <a:pPr algn="just">
              <a:lnSpc>
                <a:spcPct val="150000"/>
              </a:lnSpc>
              <a:spcBef>
                <a:spcPts val="2133"/>
              </a:spcBef>
              <a:spcAft>
                <a:spcPts val="2133"/>
              </a:spcAft>
            </a:pPr>
            <a:r>
              <a:rPr lang="en-US" sz="2667" dirty="0">
                <a:solidFill>
                  <a:schemeClr val="dk1"/>
                </a:solidFill>
                <a:latin typeface="Roboto"/>
                <a:ea typeface="Roboto"/>
                <a:cs typeface="Roboto"/>
                <a:sym typeface="Roboto"/>
              </a:rPr>
              <a:t>                            </a:t>
            </a:r>
            <a:endParaRPr sz="2667" dirty="0">
              <a:solidFill>
                <a:schemeClr val="dk1"/>
              </a:solidFill>
              <a:latin typeface="Roboto"/>
              <a:ea typeface="Roboto"/>
              <a:cs typeface="Roboto"/>
              <a:sym typeface="Roboto"/>
            </a:endParaRPr>
          </a:p>
        </p:txBody>
      </p:sp>
      <p:sp>
        <p:nvSpPr>
          <p:cNvPr id="353" name="Google Shape;353;p15">
            <a:extLst>
              <a:ext uri="{FF2B5EF4-FFF2-40B4-BE49-F238E27FC236}">
                <a16:creationId xmlns:a16="http://schemas.microsoft.com/office/drawing/2014/main" id="{5B3302CA-69DF-3FBF-DBB2-2772F09E7DD6}"/>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54" name="Google Shape;354;p15">
            <a:extLst>
              <a:ext uri="{FF2B5EF4-FFF2-40B4-BE49-F238E27FC236}">
                <a16:creationId xmlns:a16="http://schemas.microsoft.com/office/drawing/2014/main" id="{E2800AA5-15B1-902D-725B-3AE502E250F8}"/>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55" name="Google Shape;355;p15">
            <a:extLst>
              <a:ext uri="{FF2B5EF4-FFF2-40B4-BE49-F238E27FC236}">
                <a16:creationId xmlns:a16="http://schemas.microsoft.com/office/drawing/2014/main" id="{F099807F-BB23-649F-565A-BE7E82DA3EA1}"/>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4" name="TextBox 3">
            <a:extLst>
              <a:ext uri="{FF2B5EF4-FFF2-40B4-BE49-F238E27FC236}">
                <a16:creationId xmlns:a16="http://schemas.microsoft.com/office/drawing/2014/main" id="{76CA79CB-DE59-348C-17B8-8AE903177DF9}"/>
              </a:ext>
            </a:extLst>
          </p:cNvPr>
          <p:cNvSpPr txBox="1"/>
          <p:nvPr/>
        </p:nvSpPr>
        <p:spPr>
          <a:xfrm>
            <a:off x="214259" y="1192710"/>
            <a:ext cx="6620080" cy="430887"/>
          </a:xfrm>
          <a:prstGeom prst="rect">
            <a:avLst/>
          </a:prstGeom>
          <a:noFill/>
        </p:spPr>
        <p:txBody>
          <a:bodyPr wrap="square" rtlCol="0">
            <a:spAutoFit/>
          </a:bodyPr>
          <a:lstStyle/>
          <a:p>
            <a:r>
              <a:rPr lang="en-US" sz="2200" b="1" dirty="0"/>
              <a:t>Accident Severity Hotspots on Map</a:t>
            </a:r>
            <a:endParaRPr lang="en-IN" sz="2200" b="1" dirty="0"/>
          </a:p>
        </p:txBody>
      </p:sp>
      <p:sp>
        <p:nvSpPr>
          <p:cNvPr id="12" name="TextBox 11">
            <a:extLst>
              <a:ext uri="{FF2B5EF4-FFF2-40B4-BE49-F238E27FC236}">
                <a16:creationId xmlns:a16="http://schemas.microsoft.com/office/drawing/2014/main" id="{16D39EDC-5F65-195D-0575-3D05E75939AC}"/>
              </a:ext>
            </a:extLst>
          </p:cNvPr>
          <p:cNvSpPr txBox="1"/>
          <p:nvPr/>
        </p:nvSpPr>
        <p:spPr>
          <a:xfrm>
            <a:off x="217600" y="1981200"/>
            <a:ext cx="3399360" cy="523220"/>
          </a:xfrm>
          <a:prstGeom prst="rect">
            <a:avLst/>
          </a:prstGeom>
          <a:noFill/>
        </p:spPr>
        <p:txBody>
          <a:bodyPr wrap="square" rtlCol="0">
            <a:spAutoFit/>
          </a:bodyPr>
          <a:lstStyle/>
          <a:p>
            <a:r>
              <a:rPr lang="en-IN" sz="2800" b="1" dirty="0"/>
              <a:t>Explanation:</a:t>
            </a:r>
          </a:p>
        </p:txBody>
      </p:sp>
      <p:sp>
        <p:nvSpPr>
          <p:cNvPr id="13" name="TextBox 12">
            <a:extLst>
              <a:ext uri="{FF2B5EF4-FFF2-40B4-BE49-F238E27FC236}">
                <a16:creationId xmlns:a16="http://schemas.microsoft.com/office/drawing/2014/main" id="{1AA296E4-0BFD-CCA6-E310-E9F60595E6EE}"/>
              </a:ext>
            </a:extLst>
          </p:cNvPr>
          <p:cNvSpPr txBox="1"/>
          <p:nvPr/>
        </p:nvSpPr>
        <p:spPr>
          <a:xfrm>
            <a:off x="214259" y="4023709"/>
            <a:ext cx="2901520" cy="523220"/>
          </a:xfrm>
          <a:prstGeom prst="rect">
            <a:avLst/>
          </a:prstGeom>
          <a:noFill/>
        </p:spPr>
        <p:txBody>
          <a:bodyPr wrap="square" rtlCol="0">
            <a:spAutoFit/>
          </a:bodyPr>
          <a:lstStyle/>
          <a:p>
            <a:r>
              <a:rPr lang="en-IN" sz="2800" b="1" dirty="0"/>
              <a:t>Solution:</a:t>
            </a:r>
          </a:p>
        </p:txBody>
      </p:sp>
      <p:sp>
        <p:nvSpPr>
          <p:cNvPr id="15" name="TextBox 14">
            <a:extLst>
              <a:ext uri="{FF2B5EF4-FFF2-40B4-BE49-F238E27FC236}">
                <a16:creationId xmlns:a16="http://schemas.microsoft.com/office/drawing/2014/main" id="{1265C245-8B12-6F9D-116C-52F148761B22}"/>
              </a:ext>
            </a:extLst>
          </p:cNvPr>
          <p:cNvSpPr txBox="1"/>
          <p:nvPr/>
        </p:nvSpPr>
        <p:spPr>
          <a:xfrm>
            <a:off x="214260" y="2500215"/>
            <a:ext cx="4299988" cy="1077218"/>
          </a:xfrm>
          <a:prstGeom prst="rect">
            <a:avLst/>
          </a:prstGeom>
          <a:noFill/>
        </p:spPr>
        <p:txBody>
          <a:bodyPr wrap="square" rtlCol="0">
            <a:spAutoFit/>
          </a:bodyPr>
          <a:lstStyle/>
          <a:p>
            <a:pPr fontAlgn="base">
              <a:spcBef>
                <a:spcPct val="0"/>
              </a:spcBef>
              <a:spcAft>
                <a:spcPct val="0"/>
              </a:spcAft>
            </a:pPr>
            <a:r>
              <a:rPr lang="en-US" sz="1600" dirty="0"/>
              <a:t>This code uses latitude and longitude to plot accident locations and color-codes them based on severity. It helps to identify high-risk geographic areas..</a:t>
            </a:r>
            <a:endParaRPr lang="en-US" altLang="en-US" sz="1600" dirty="0"/>
          </a:p>
        </p:txBody>
      </p:sp>
      <p:sp>
        <p:nvSpPr>
          <p:cNvPr id="19" name="TextBox 18">
            <a:extLst>
              <a:ext uri="{FF2B5EF4-FFF2-40B4-BE49-F238E27FC236}">
                <a16:creationId xmlns:a16="http://schemas.microsoft.com/office/drawing/2014/main" id="{028D4A9E-CE87-6860-BF93-5ED77D09E0BB}"/>
              </a:ext>
            </a:extLst>
          </p:cNvPr>
          <p:cNvSpPr txBox="1"/>
          <p:nvPr/>
        </p:nvSpPr>
        <p:spPr>
          <a:xfrm>
            <a:off x="214259" y="4564073"/>
            <a:ext cx="3837977" cy="923330"/>
          </a:xfrm>
          <a:prstGeom prst="rect">
            <a:avLst/>
          </a:prstGeom>
          <a:noFill/>
        </p:spPr>
        <p:txBody>
          <a:bodyPr wrap="square" rtlCol="0">
            <a:spAutoFit/>
          </a:bodyPr>
          <a:lstStyle/>
          <a:p>
            <a:pPr lvl="0" fontAlgn="base">
              <a:spcBef>
                <a:spcPct val="0"/>
              </a:spcBef>
              <a:spcAft>
                <a:spcPct val="0"/>
              </a:spcAft>
            </a:pPr>
            <a:r>
              <a:rPr lang="en-US" dirty="0"/>
              <a:t>Improve safety measures in high-risk accident locations identified from the map</a:t>
            </a:r>
            <a:endParaRPr lang="en-IN" sz="2000" b="1" dirty="0"/>
          </a:p>
        </p:txBody>
      </p:sp>
      <p:pic>
        <p:nvPicPr>
          <p:cNvPr id="3" name="Picture 2">
            <a:extLst>
              <a:ext uri="{FF2B5EF4-FFF2-40B4-BE49-F238E27FC236}">
                <a16:creationId xmlns:a16="http://schemas.microsoft.com/office/drawing/2014/main" id="{C764D954-091E-6E3B-B86B-FA2AEAA04F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9584" y="1120544"/>
            <a:ext cx="7525800" cy="5230850"/>
          </a:xfrm>
          <a:prstGeom prst="rect">
            <a:avLst/>
          </a:prstGeom>
        </p:spPr>
      </p:pic>
    </p:spTree>
    <p:extLst>
      <p:ext uri="{BB962C8B-B14F-4D97-AF65-F5344CB8AC3E}">
        <p14:creationId xmlns:p14="http://schemas.microsoft.com/office/powerpoint/2010/main" val="853658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1" name="Google Shape;391;p19"/>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Power BI Dashboard</a:t>
            </a:r>
            <a:endParaRPr sz="4000" b="1" dirty="0">
              <a:solidFill>
                <a:srgbClr val="FFFFFF"/>
              </a:solidFill>
              <a:latin typeface="Roboto"/>
              <a:ea typeface="Roboto"/>
              <a:cs typeface="Roboto"/>
              <a:sym typeface="Roboto"/>
            </a:endParaRPr>
          </a:p>
        </p:txBody>
      </p:sp>
      <p:sp>
        <p:nvSpPr>
          <p:cNvPr id="392" name="Google Shape;392;p19"/>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93" name="Google Shape;393;p19"/>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2" name="Google Shape;392;p19">
            <a:extLst>
              <a:ext uri="{FF2B5EF4-FFF2-40B4-BE49-F238E27FC236}">
                <a16:creationId xmlns:a16="http://schemas.microsoft.com/office/drawing/2014/main" id="{3959F910-9918-3A34-BF62-7C20E5B0B46D}"/>
              </a:ext>
            </a:extLst>
          </p:cNvPr>
          <p:cNvSpPr txBox="1"/>
          <p:nvPr/>
        </p:nvSpPr>
        <p:spPr>
          <a:xfrm>
            <a:off x="165800" y="1136941"/>
            <a:ext cx="12192000" cy="5416259"/>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pic>
        <p:nvPicPr>
          <p:cNvPr id="4" name="Picture 3">
            <a:extLst>
              <a:ext uri="{FF2B5EF4-FFF2-40B4-BE49-F238E27FC236}">
                <a16:creationId xmlns:a16="http://schemas.microsoft.com/office/drawing/2014/main" id="{151C94A7-8B03-102C-F883-51C997F866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600" y="1083548"/>
            <a:ext cx="11299600" cy="5218245"/>
          </a:xfrm>
          <a:prstGeom prst="rect">
            <a:avLst/>
          </a:prstGeom>
        </p:spPr>
      </p:pic>
    </p:spTree>
    <p:extLst>
      <p:ext uri="{BB962C8B-B14F-4D97-AF65-F5344CB8AC3E}">
        <p14:creationId xmlns:p14="http://schemas.microsoft.com/office/powerpoint/2010/main" val="3374026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D3D34624-787E-2E83-6F2E-65BEAC7FBA43}"/>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D5403229-B7DD-EDD5-8036-569AE3CE17DC}"/>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Power BI Dashboard</a:t>
            </a:r>
            <a:endParaRPr sz="4000" b="1" dirty="0">
              <a:solidFill>
                <a:srgbClr val="FFFFFF"/>
              </a:solidFill>
              <a:latin typeface="Roboto"/>
              <a:ea typeface="Roboto"/>
              <a:cs typeface="Roboto"/>
              <a:sym typeface="Roboto"/>
            </a:endParaRPr>
          </a:p>
        </p:txBody>
      </p:sp>
      <p:sp>
        <p:nvSpPr>
          <p:cNvPr id="392" name="Google Shape;392;p19">
            <a:extLst>
              <a:ext uri="{FF2B5EF4-FFF2-40B4-BE49-F238E27FC236}">
                <a16:creationId xmlns:a16="http://schemas.microsoft.com/office/drawing/2014/main" id="{8AB05488-9ABC-2118-9DE7-CB0214EF60CA}"/>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93" name="Google Shape;393;p19">
            <a:extLst>
              <a:ext uri="{FF2B5EF4-FFF2-40B4-BE49-F238E27FC236}">
                <a16:creationId xmlns:a16="http://schemas.microsoft.com/office/drawing/2014/main" id="{CDA0E6C0-6928-6CA3-D668-A101BDA339C9}"/>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9688638D-0540-1CB8-2CDE-2746D4F8D8A4}"/>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32DA353D-48BF-B6FD-C436-DA9B38B9BC98}"/>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2" name="Google Shape;392;p19">
            <a:extLst>
              <a:ext uri="{FF2B5EF4-FFF2-40B4-BE49-F238E27FC236}">
                <a16:creationId xmlns:a16="http://schemas.microsoft.com/office/drawing/2014/main" id="{306AB610-FF06-614F-F4E9-CB6BD537DF44}"/>
              </a:ext>
            </a:extLst>
          </p:cNvPr>
          <p:cNvSpPr txBox="1"/>
          <p:nvPr/>
        </p:nvSpPr>
        <p:spPr>
          <a:xfrm>
            <a:off x="139000" y="1120544"/>
            <a:ext cx="12192000" cy="5441659"/>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pic>
        <p:nvPicPr>
          <p:cNvPr id="4" name="Picture 3">
            <a:extLst>
              <a:ext uri="{FF2B5EF4-FFF2-40B4-BE49-F238E27FC236}">
                <a16:creationId xmlns:a16="http://schemas.microsoft.com/office/drawing/2014/main" id="{B8C6B508-8ACC-3714-5419-A024E1BD54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307" y="1120544"/>
            <a:ext cx="11355385" cy="5127856"/>
          </a:xfrm>
          <a:prstGeom prst="rect">
            <a:avLst/>
          </a:prstGeom>
        </p:spPr>
      </p:pic>
    </p:spTree>
    <p:extLst>
      <p:ext uri="{BB962C8B-B14F-4D97-AF65-F5344CB8AC3E}">
        <p14:creationId xmlns:p14="http://schemas.microsoft.com/office/powerpoint/2010/main" val="1074575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B5647399-85FA-3865-66CF-CA74521696AD}"/>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189BF059-C1FA-69C3-7734-5F39452F0D5A}"/>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Power BI Dashboard</a:t>
            </a:r>
            <a:endParaRPr sz="4000" b="1" dirty="0">
              <a:solidFill>
                <a:srgbClr val="FFFFFF"/>
              </a:solidFill>
              <a:latin typeface="Roboto"/>
              <a:ea typeface="Roboto"/>
              <a:cs typeface="Roboto"/>
              <a:sym typeface="Roboto"/>
            </a:endParaRPr>
          </a:p>
        </p:txBody>
      </p:sp>
      <p:sp>
        <p:nvSpPr>
          <p:cNvPr id="392" name="Google Shape;392;p19">
            <a:extLst>
              <a:ext uri="{FF2B5EF4-FFF2-40B4-BE49-F238E27FC236}">
                <a16:creationId xmlns:a16="http://schemas.microsoft.com/office/drawing/2014/main" id="{CAF62FC2-2E87-1DF2-2865-BCD3AB1416D0}"/>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93" name="Google Shape;393;p19">
            <a:extLst>
              <a:ext uri="{FF2B5EF4-FFF2-40B4-BE49-F238E27FC236}">
                <a16:creationId xmlns:a16="http://schemas.microsoft.com/office/drawing/2014/main" id="{19A9C689-A623-F4E6-43A3-EBE99520B2CF}"/>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045B5BF7-1736-FE5C-6818-8974132EA5F9}"/>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360C6B8E-6036-999A-A204-1E08976856D9}"/>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2" name="Google Shape;392;p19">
            <a:extLst>
              <a:ext uri="{FF2B5EF4-FFF2-40B4-BE49-F238E27FC236}">
                <a16:creationId xmlns:a16="http://schemas.microsoft.com/office/drawing/2014/main" id="{56A933A4-DAFD-0F9E-CCF9-E23ECA0525D0}"/>
              </a:ext>
            </a:extLst>
          </p:cNvPr>
          <p:cNvSpPr txBox="1"/>
          <p:nvPr/>
        </p:nvSpPr>
        <p:spPr>
          <a:xfrm>
            <a:off x="165800" y="1136941"/>
            <a:ext cx="12192000" cy="5416259"/>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pic>
        <p:nvPicPr>
          <p:cNvPr id="4" name="Picture 3">
            <a:extLst>
              <a:ext uri="{FF2B5EF4-FFF2-40B4-BE49-F238E27FC236}">
                <a16:creationId xmlns:a16="http://schemas.microsoft.com/office/drawing/2014/main" id="{685E7EA0-8DA0-6207-75E5-02103E068D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071" y="1199297"/>
            <a:ext cx="11345858" cy="4950096"/>
          </a:xfrm>
          <a:prstGeom prst="rect">
            <a:avLst/>
          </a:prstGeom>
        </p:spPr>
      </p:pic>
    </p:spTree>
    <p:extLst>
      <p:ext uri="{BB962C8B-B14F-4D97-AF65-F5344CB8AC3E}">
        <p14:creationId xmlns:p14="http://schemas.microsoft.com/office/powerpoint/2010/main" val="1546244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4872F6E9-70D2-C765-D499-E96604B8B22E}"/>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964E8342-65AD-8D10-8385-9918A94738C3}"/>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IN" sz="4000" b="1" dirty="0">
                <a:solidFill>
                  <a:srgbClr val="FFFFFF"/>
                </a:solidFill>
                <a:latin typeface="Roboto"/>
                <a:ea typeface="Roboto"/>
                <a:cs typeface="Roboto"/>
              </a:rPr>
              <a:t>Proposed Solution</a:t>
            </a:r>
            <a:endParaRPr sz="4000" b="1" dirty="0">
              <a:solidFill>
                <a:srgbClr val="FFFFFF"/>
              </a:solidFill>
              <a:latin typeface="Roboto"/>
              <a:ea typeface="Roboto"/>
              <a:cs typeface="Roboto"/>
              <a:sym typeface="Roboto"/>
            </a:endParaRPr>
          </a:p>
        </p:txBody>
      </p:sp>
      <p:sp>
        <p:nvSpPr>
          <p:cNvPr id="392" name="Google Shape;392;p19">
            <a:extLst>
              <a:ext uri="{FF2B5EF4-FFF2-40B4-BE49-F238E27FC236}">
                <a16:creationId xmlns:a16="http://schemas.microsoft.com/office/drawing/2014/main" id="{4D4B8749-997C-9FDA-1856-50C516364E5C}"/>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93" name="Google Shape;393;p19">
            <a:extLst>
              <a:ext uri="{FF2B5EF4-FFF2-40B4-BE49-F238E27FC236}">
                <a16:creationId xmlns:a16="http://schemas.microsoft.com/office/drawing/2014/main" id="{90EB6627-B40E-8F14-1038-2ED12224C198}"/>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1BA51B28-AF8F-F00F-F6B7-B12A10C76827}"/>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F7C231A6-F631-9460-CA62-AF06F82E0303}"/>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2" name="Google Shape;392;p19">
            <a:extLst>
              <a:ext uri="{FF2B5EF4-FFF2-40B4-BE49-F238E27FC236}">
                <a16:creationId xmlns:a16="http://schemas.microsoft.com/office/drawing/2014/main" id="{09A02AE7-DDFA-DD7C-4E24-4007E2037DEE}"/>
              </a:ext>
            </a:extLst>
          </p:cNvPr>
          <p:cNvSpPr txBox="1"/>
          <p:nvPr/>
        </p:nvSpPr>
        <p:spPr>
          <a:xfrm>
            <a:off x="165800" y="1136941"/>
            <a:ext cx="12192000" cy="5416259"/>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4" name="TextBox 3">
            <a:extLst>
              <a:ext uri="{FF2B5EF4-FFF2-40B4-BE49-F238E27FC236}">
                <a16:creationId xmlns:a16="http://schemas.microsoft.com/office/drawing/2014/main" id="{4C80FEBA-6910-9B0B-0EB0-EC2E3A512B1F}"/>
              </a:ext>
            </a:extLst>
          </p:cNvPr>
          <p:cNvSpPr txBox="1"/>
          <p:nvPr/>
        </p:nvSpPr>
        <p:spPr>
          <a:xfrm>
            <a:off x="601000" y="747197"/>
            <a:ext cx="9580880" cy="5909310"/>
          </a:xfrm>
          <a:prstGeom prst="rect">
            <a:avLst/>
          </a:prstGeom>
          <a:noFill/>
        </p:spPr>
        <p:txBody>
          <a:bodyPr wrap="square" rtlCol="0">
            <a:spAutoFit/>
          </a:bodyPr>
          <a:lstStyle/>
          <a:p>
            <a:pPr lvl="0" eaLnBrk="0" fontAlgn="base" hangingPunct="0">
              <a:spcBef>
                <a:spcPct val="0"/>
              </a:spcBef>
              <a:spcAft>
                <a:spcPct val="0"/>
              </a:spcAft>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Increase traffic control and monitoring in high accident cities. </a:t>
            </a:r>
          </a:p>
          <a:p>
            <a:pPr lvl="0" eaLnBrk="0" fontAlgn="base" hangingPunct="0">
              <a:spcBef>
                <a:spcPct val="0"/>
              </a:spcBef>
              <a:spcAft>
                <a:spcPct val="0"/>
              </a:spcAft>
            </a:pPr>
            <a:endParaRPr lang="en-US" altLang="en-US" b="1"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Provide weather-based alerts to reduce accidents in risky conditions. </a:t>
            </a:r>
          </a:p>
          <a:p>
            <a:pPr lvl="0" eaLnBrk="0" fontAlgn="base" hangingPunct="0">
              <a:spcBef>
                <a:spcPct val="0"/>
              </a:spcBef>
              <a:spcAft>
                <a:spcPct val="0"/>
              </a:spcAft>
            </a:pPr>
            <a:endParaRPr lang="en-US" altLang="en-US" b="1"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Upgrade safety systems at signals, crossings, and junctions. </a:t>
            </a:r>
          </a:p>
          <a:p>
            <a:pPr lvl="0" eaLnBrk="0" fontAlgn="base" hangingPunct="0">
              <a:spcBef>
                <a:spcPct val="0"/>
              </a:spcBef>
              <a:spcAft>
                <a:spcPct val="0"/>
              </a:spcAft>
            </a:pPr>
            <a:endParaRPr lang="en-US" altLang="en-US" b="1"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Focus on improving safety at junctions and crossings where severity is high.</a:t>
            </a:r>
          </a:p>
          <a:p>
            <a:pPr lvl="0" eaLnBrk="0" fontAlgn="base" hangingPunct="0">
              <a:spcBef>
                <a:spcPct val="0"/>
              </a:spcBef>
              <a:spcAft>
                <a:spcPct val="0"/>
              </a:spcAft>
            </a:pPr>
            <a:r>
              <a:rPr lang="en-US" altLang="en-US" b="1" dirty="0">
                <a:latin typeface="Arial" panose="020B0604020202020204" pitchFamily="34" charset="0"/>
              </a:rPr>
              <a:t> </a:t>
            </a:r>
          </a:p>
          <a:p>
            <a:pPr lvl="0" eaLnBrk="0" fontAlgn="base" hangingPunct="0">
              <a:spcBef>
                <a:spcPct val="0"/>
              </a:spcBef>
              <a:spcAft>
                <a:spcPct val="0"/>
              </a:spcAft>
              <a:buFontTx/>
              <a:buChar char="•"/>
            </a:pPr>
            <a:r>
              <a:rPr lang="en-US" altLang="en-US" b="1" dirty="0">
                <a:latin typeface="Arial" panose="020B0604020202020204" pitchFamily="34" charset="0"/>
              </a:rPr>
              <a:t>Increase police presence and control traffic during peak accident hours.</a:t>
            </a:r>
          </a:p>
          <a:p>
            <a:pPr lvl="0" eaLnBrk="0" fontAlgn="base" hangingPunct="0">
              <a:spcBef>
                <a:spcPct val="0"/>
              </a:spcBef>
              <a:spcAft>
                <a:spcPct val="0"/>
              </a:spcAft>
            </a:pPr>
            <a:r>
              <a:rPr lang="en-US" altLang="en-US" b="1" dirty="0">
                <a:latin typeface="Arial" panose="020B0604020202020204" pitchFamily="34" charset="0"/>
              </a:rPr>
              <a:t> </a:t>
            </a:r>
          </a:p>
          <a:p>
            <a:pPr lvl="0" eaLnBrk="0" fontAlgn="base" hangingPunct="0">
              <a:spcBef>
                <a:spcPct val="0"/>
              </a:spcBef>
              <a:spcAft>
                <a:spcPct val="0"/>
              </a:spcAft>
              <a:buFontTx/>
              <a:buChar char="•"/>
            </a:pPr>
            <a:r>
              <a:rPr lang="en-US" altLang="en-US" b="1" dirty="0">
                <a:latin typeface="Arial" panose="020B0604020202020204" pitchFamily="34" charset="0"/>
              </a:rPr>
              <a:t>Implement stronger road safety rules to control yearly accident growth. </a:t>
            </a:r>
          </a:p>
          <a:p>
            <a:pPr lvl="0" eaLnBrk="0" fontAlgn="base" hangingPunct="0">
              <a:spcBef>
                <a:spcPct val="0"/>
              </a:spcBef>
              <a:spcAft>
                <a:spcPct val="0"/>
              </a:spcAft>
            </a:pPr>
            <a:endParaRPr lang="en-US" altLang="en-US" b="1"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Install warning boards and speed control systems in accident hotspot areas. </a:t>
            </a:r>
          </a:p>
          <a:p>
            <a:pPr lvl="0" eaLnBrk="0" fontAlgn="base" hangingPunct="0">
              <a:spcBef>
                <a:spcPct val="0"/>
              </a:spcBef>
              <a:spcAft>
                <a:spcPct val="0"/>
              </a:spcAft>
            </a:pPr>
            <a:endParaRPr lang="en-US" altLang="en-US" b="1"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Issue driving alerts and reduce speed limits during bad weather conditions. </a:t>
            </a:r>
          </a:p>
          <a:p>
            <a:pPr lvl="0" eaLnBrk="0" fontAlgn="base" hangingPunct="0">
              <a:spcBef>
                <a:spcPct val="0"/>
              </a:spcBef>
              <a:spcAft>
                <a:spcPct val="0"/>
              </a:spcAft>
            </a:pPr>
            <a:endParaRPr lang="en-US" altLang="en-US" b="1"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Improve road safety systems during low visibility and extreme weather conditions.</a:t>
            </a:r>
          </a:p>
          <a:p>
            <a:pPr lvl="0" eaLnBrk="0" fontAlgn="base" hangingPunct="0">
              <a:spcBef>
                <a:spcPct val="0"/>
              </a:spcBef>
              <a:spcAft>
                <a:spcPct val="0"/>
              </a:spcAft>
            </a:pPr>
            <a:r>
              <a:rPr lang="en-US" altLang="en-US" b="1" dirty="0">
                <a:latin typeface="Arial" panose="020B0604020202020204" pitchFamily="34" charset="0"/>
              </a:rPr>
              <a:t> </a:t>
            </a:r>
          </a:p>
          <a:p>
            <a:pPr lvl="0" eaLnBrk="0" fontAlgn="base" hangingPunct="0">
              <a:spcBef>
                <a:spcPct val="0"/>
              </a:spcBef>
              <a:spcAft>
                <a:spcPct val="0"/>
              </a:spcAft>
              <a:buFontTx/>
              <a:buChar char="•"/>
            </a:pPr>
            <a:r>
              <a:rPr lang="en-US" altLang="en-US" b="1" dirty="0">
                <a:latin typeface="Arial" panose="020B0604020202020204" pitchFamily="34" charset="0"/>
              </a:rPr>
              <a:t>Improve road design and signage at high-risk traffic points. </a:t>
            </a:r>
          </a:p>
          <a:p>
            <a:pPr lvl="0" eaLnBrk="0" fontAlgn="base" hangingPunct="0">
              <a:spcBef>
                <a:spcPct val="0"/>
              </a:spcBef>
              <a:spcAft>
                <a:spcPct val="0"/>
              </a:spcAft>
            </a:pPr>
            <a:endParaRPr lang="en-US" altLang="en-US" b="1" dirty="0">
              <a:latin typeface="Arial" panose="020B0604020202020204" pitchFamily="34" charset="0"/>
            </a:endParaRPr>
          </a:p>
        </p:txBody>
      </p:sp>
    </p:spTree>
    <p:extLst>
      <p:ext uri="{BB962C8B-B14F-4D97-AF65-F5344CB8AC3E}">
        <p14:creationId xmlns:p14="http://schemas.microsoft.com/office/powerpoint/2010/main" val="2549775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F52BDB9C-A8FB-9E3C-4B2F-8F9AC9B5A233}"/>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6092798C-ED7A-A714-2FCA-7FE1F28BE6FD}"/>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GB" sz="4000" b="1" dirty="0">
                <a:solidFill>
                  <a:srgbClr val="FFFFFF"/>
                </a:solidFill>
                <a:latin typeface="Roboto"/>
                <a:ea typeface="Roboto"/>
                <a:cs typeface="Roboto"/>
                <a:sym typeface="Roboto"/>
              </a:rPr>
              <a:t>Conclusion</a:t>
            </a:r>
            <a:endParaRPr sz="4000" b="1" dirty="0">
              <a:solidFill>
                <a:srgbClr val="FFFFFF"/>
              </a:solidFill>
              <a:latin typeface="Roboto"/>
              <a:ea typeface="Roboto"/>
              <a:cs typeface="Roboto"/>
              <a:sym typeface="Roboto"/>
            </a:endParaRPr>
          </a:p>
        </p:txBody>
      </p:sp>
      <p:sp>
        <p:nvSpPr>
          <p:cNvPr id="392" name="Google Shape;392;p19">
            <a:extLst>
              <a:ext uri="{FF2B5EF4-FFF2-40B4-BE49-F238E27FC236}">
                <a16:creationId xmlns:a16="http://schemas.microsoft.com/office/drawing/2014/main" id="{161768F0-FD6C-EB98-20E8-55410C71F0D7}"/>
              </a:ext>
            </a:extLst>
          </p:cNvPr>
          <p:cNvSpPr txBox="1"/>
          <p:nvPr/>
        </p:nvSpPr>
        <p:spPr>
          <a:xfrm>
            <a:off x="13400" y="984541"/>
            <a:ext cx="12192000" cy="5416259"/>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93" name="Google Shape;393;p19">
            <a:extLst>
              <a:ext uri="{FF2B5EF4-FFF2-40B4-BE49-F238E27FC236}">
                <a16:creationId xmlns:a16="http://schemas.microsoft.com/office/drawing/2014/main" id="{EC6E4E8C-FF61-63AD-E178-848DC28F79FF}"/>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543D32DF-86F4-0177-1174-1C0C00BA5840}"/>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C198667A-12A4-9F1B-1544-C23288D127FA}"/>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2" name="Google Shape;392;p19">
            <a:extLst>
              <a:ext uri="{FF2B5EF4-FFF2-40B4-BE49-F238E27FC236}">
                <a16:creationId xmlns:a16="http://schemas.microsoft.com/office/drawing/2014/main" id="{C33524BD-76ED-0424-D7B5-50EBDD89FF89}"/>
              </a:ext>
            </a:extLst>
          </p:cNvPr>
          <p:cNvSpPr txBox="1"/>
          <p:nvPr/>
        </p:nvSpPr>
        <p:spPr>
          <a:xfrm>
            <a:off x="165800" y="1136941"/>
            <a:ext cx="12192000" cy="5416259"/>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4" name="TextBox 3">
            <a:extLst>
              <a:ext uri="{FF2B5EF4-FFF2-40B4-BE49-F238E27FC236}">
                <a16:creationId xmlns:a16="http://schemas.microsoft.com/office/drawing/2014/main" id="{FFA4BF62-D43E-52B7-91F4-4FD7CFAAF4FA}"/>
              </a:ext>
            </a:extLst>
          </p:cNvPr>
          <p:cNvSpPr txBox="1"/>
          <p:nvPr/>
        </p:nvSpPr>
        <p:spPr>
          <a:xfrm>
            <a:off x="792480" y="1594452"/>
            <a:ext cx="9062720" cy="2246769"/>
          </a:xfrm>
          <a:prstGeom prst="rect">
            <a:avLst/>
          </a:prstGeom>
          <a:noFill/>
        </p:spPr>
        <p:txBody>
          <a:bodyPr wrap="square" rtlCol="0">
            <a:spAutoFit/>
          </a:bodyPr>
          <a:lstStyle/>
          <a:p>
            <a:r>
              <a:rPr lang="en-US" sz="2000" b="1" dirty="0"/>
              <a:t>The analysis shows that road accidents are strongly influenced by time, weather, and road conditions. Peak traffic hours and poor visibility conditions increase accident risk. Certain road locations such as junctions and crossings are more accident-prone. Also, a few cities and states consistently report higher accident numbers, indicating the need for targeted safety improvements. Overall, accidents are driven by a combination of traffic density, environmental conditions, and infrastructure quality</a:t>
            </a:r>
            <a:endParaRPr lang="en-IN" sz="2000" b="1" dirty="0"/>
          </a:p>
        </p:txBody>
      </p:sp>
    </p:spTree>
    <p:extLst>
      <p:ext uri="{BB962C8B-B14F-4D97-AF65-F5344CB8AC3E}">
        <p14:creationId xmlns:p14="http://schemas.microsoft.com/office/powerpoint/2010/main" val="2151358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1" name="Google Shape;391;p19"/>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r>
              <a:rPr lang="en-GB" sz="4000" b="1" dirty="0">
                <a:solidFill>
                  <a:srgbClr val="FFFFFF"/>
                </a:solidFill>
                <a:latin typeface="Roboto"/>
                <a:ea typeface="Roboto"/>
                <a:cs typeface="Roboto"/>
                <a:sym typeface="Roboto"/>
              </a:rPr>
              <a:t>Future Scope</a:t>
            </a:r>
            <a:endParaRPr sz="4000" b="1" dirty="0">
              <a:solidFill>
                <a:srgbClr val="FFFFFF"/>
              </a:solidFill>
              <a:latin typeface="Roboto"/>
              <a:ea typeface="Roboto"/>
              <a:cs typeface="Roboto"/>
              <a:sym typeface="Roboto"/>
            </a:endParaRPr>
          </a:p>
        </p:txBody>
      </p:sp>
      <p:sp>
        <p:nvSpPr>
          <p:cNvPr id="392" name="Google Shape;392;p19"/>
          <p:cNvSpPr txBox="1"/>
          <p:nvPr/>
        </p:nvSpPr>
        <p:spPr>
          <a:xfrm>
            <a:off x="0" y="1021534"/>
            <a:ext cx="12192000" cy="5379265"/>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93" name="Google Shape;393;p19"/>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 name="TextBox 2">
            <a:extLst>
              <a:ext uri="{FF2B5EF4-FFF2-40B4-BE49-F238E27FC236}">
                <a16:creationId xmlns:a16="http://schemas.microsoft.com/office/drawing/2014/main" id="{608EC9BC-0BFD-02E3-DA3E-3B6BF47A0D0D}"/>
              </a:ext>
            </a:extLst>
          </p:cNvPr>
          <p:cNvSpPr txBox="1"/>
          <p:nvPr/>
        </p:nvSpPr>
        <p:spPr>
          <a:xfrm>
            <a:off x="660400" y="1163537"/>
            <a:ext cx="9550400" cy="3447098"/>
          </a:xfrm>
          <a:prstGeom prst="rect">
            <a:avLst/>
          </a:prstGeom>
          <a:noFill/>
        </p:spPr>
        <p:txBody>
          <a:bodyPr wrap="square" rtlCol="0">
            <a:spAutoFit/>
          </a:bodyPr>
          <a:lstStyle/>
          <a:p>
            <a:pPr lvl="0" eaLnBrk="0" fontAlgn="base" hangingPunct="0">
              <a:spcBef>
                <a:spcPct val="0"/>
              </a:spcBef>
              <a:spcAft>
                <a:spcPct val="0"/>
              </a:spcAft>
            </a:pPr>
            <a:endParaRPr lang="en-US" altLang="en-US" sz="2000" b="1" dirty="0">
              <a:latin typeface="Arial" panose="020B0604020202020204" pitchFamily="34" charset="0"/>
            </a:endParaRPr>
          </a:p>
          <a:p>
            <a:pPr lvl="0" eaLnBrk="0" fontAlgn="base" hangingPunct="0">
              <a:spcBef>
                <a:spcPct val="0"/>
              </a:spcBef>
              <a:spcAft>
                <a:spcPct val="0"/>
              </a:spcAft>
              <a:buFontTx/>
              <a:buChar char="•"/>
            </a:pPr>
            <a:r>
              <a:rPr lang="en-US" altLang="en-US" sz="2000" b="1" dirty="0">
                <a:latin typeface="Arial" panose="020B0604020202020204" pitchFamily="34" charset="0"/>
              </a:rPr>
              <a:t>Develop real-time accident prediction system using AI and machine learning.</a:t>
            </a:r>
          </a:p>
          <a:p>
            <a:pPr lvl="0" eaLnBrk="0" fontAlgn="base" hangingPunct="0">
              <a:spcBef>
                <a:spcPct val="0"/>
              </a:spcBef>
              <a:spcAft>
                <a:spcPct val="0"/>
              </a:spcAft>
            </a:pPr>
            <a:r>
              <a:rPr lang="en-US" altLang="en-US" sz="2000" b="1" dirty="0">
                <a:latin typeface="Arial" panose="020B0604020202020204" pitchFamily="34" charset="0"/>
              </a:rPr>
              <a:t> </a:t>
            </a:r>
          </a:p>
          <a:p>
            <a:pPr lvl="0" eaLnBrk="0" fontAlgn="base" hangingPunct="0">
              <a:spcBef>
                <a:spcPct val="0"/>
              </a:spcBef>
              <a:spcAft>
                <a:spcPct val="0"/>
              </a:spcAft>
              <a:buFontTx/>
              <a:buChar char="•"/>
            </a:pPr>
            <a:r>
              <a:rPr lang="en-US" altLang="en-US" sz="2000" b="1" dirty="0">
                <a:latin typeface="Arial" panose="020B0604020202020204" pitchFamily="34" charset="0"/>
              </a:rPr>
              <a:t>Integrate live weather and traffic data for early warning alerts.</a:t>
            </a:r>
          </a:p>
          <a:p>
            <a:pPr lvl="0" eaLnBrk="0" fontAlgn="base" hangingPunct="0">
              <a:spcBef>
                <a:spcPct val="0"/>
              </a:spcBef>
              <a:spcAft>
                <a:spcPct val="0"/>
              </a:spcAft>
            </a:pPr>
            <a:r>
              <a:rPr lang="en-US" altLang="en-US" sz="2000" b="1" dirty="0">
                <a:latin typeface="Arial" panose="020B0604020202020204" pitchFamily="34" charset="0"/>
              </a:rPr>
              <a:t> </a:t>
            </a:r>
          </a:p>
          <a:p>
            <a:pPr lvl="0" eaLnBrk="0" fontAlgn="base" hangingPunct="0">
              <a:spcBef>
                <a:spcPct val="0"/>
              </a:spcBef>
              <a:spcAft>
                <a:spcPct val="0"/>
              </a:spcAft>
              <a:buFontTx/>
              <a:buChar char="•"/>
            </a:pPr>
            <a:r>
              <a:rPr lang="en-US" altLang="en-US" sz="2000" b="1" dirty="0">
                <a:latin typeface="Arial" panose="020B0604020202020204" pitchFamily="34" charset="0"/>
              </a:rPr>
              <a:t>Build smart traffic management systems for high-risk cities.</a:t>
            </a:r>
          </a:p>
          <a:p>
            <a:pPr lvl="0" eaLnBrk="0" fontAlgn="base" hangingPunct="0">
              <a:spcBef>
                <a:spcPct val="0"/>
              </a:spcBef>
              <a:spcAft>
                <a:spcPct val="0"/>
              </a:spcAft>
            </a:pPr>
            <a:r>
              <a:rPr lang="en-US" altLang="en-US" sz="2000" b="1" dirty="0">
                <a:latin typeface="Arial" panose="020B0604020202020204" pitchFamily="34" charset="0"/>
              </a:rPr>
              <a:t> </a:t>
            </a:r>
          </a:p>
          <a:p>
            <a:pPr lvl="0" eaLnBrk="0" fontAlgn="base" hangingPunct="0">
              <a:spcBef>
                <a:spcPct val="0"/>
              </a:spcBef>
              <a:spcAft>
                <a:spcPct val="0"/>
              </a:spcAft>
              <a:buFontTx/>
              <a:buChar char="•"/>
            </a:pPr>
            <a:r>
              <a:rPr lang="en-US" altLang="en-US" sz="2000" b="1" dirty="0">
                <a:latin typeface="Arial" panose="020B0604020202020204" pitchFamily="34" charset="0"/>
              </a:rPr>
              <a:t>Use GPS-based monitoring to identify and control accident hotspots.</a:t>
            </a:r>
          </a:p>
          <a:p>
            <a:pPr lvl="0" eaLnBrk="0" fontAlgn="base" hangingPunct="0">
              <a:spcBef>
                <a:spcPct val="0"/>
              </a:spcBef>
              <a:spcAft>
                <a:spcPct val="0"/>
              </a:spcAft>
            </a:pPr>
            <a:r>
              <a:rPr lang="en-US" altLang="en-US" sz="2000" b="1" dirty="0">
                <a:latin typeface="Arial" panose="020B0604020202020204" pitchFamily="34" charset="0"/>
              </a:rPr>
              <a:t> </a:t>
            </a:r>
          </a:p>
          <a:p>
            <a:pPr lvl="0" eaLnBrk="0" fontAlgn="base" hangingPunct="0">
              <a:spcBef>
                <a:spcPct val="0"/>
              </a:spcBef>
              <a:spcAft>
                <a:spcPct val="0"/>
              </a:spcAft>
              <a:buFontTx/>
              <a:buChar char="•"/>
            </a:pPr>
            <a:r>
              <a:rPr lang="en-US" altLang="en-US" sz="2000" b="1" dirty="0">
                <a:latin typeface="Arial" panose="020B0604020202020204" pitchFamily="34" charset="0"/>
              </a:rPr>
              <a:t>Improve emergency response systems with faster alert mechanisms. </a:t>
            </a:r>
          </a:p>
          <a:p>
            <a:endParaRPr lang="en-IN" dirty="0"/>
          </a:p>
        </p:txBody>
      </p:sp>
    </p:spTree>
    <p:extLst>
      <p:ext uri="{BB962C8B-B14F-4D97-AF65-F5344CB8AC3E}">
        <p14:creationId xmlns:p14="http://schemas.microsoft.com/office/powerpoint/2010/main" val="2220828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AAA7DAB3-9A6B-4244-6ED7-63F6826C9D7F}"/>
            </a:ext>
          </a:extLst>
        </p:cNvPr>
        <p:cNvGrpSpPr/>
        <p:nvPr/>
      </p:nvGrpSpPr>
      <p:grpSpPr>
        <a:xfrm>
          <a:off x="0" y="0"/>
          <a:ext cx="0" cy="0"/>
          <a:chOff x="0" y="0"/>
          <a:chExt cx="0" cy="0"/>
        </a:xfrm>
      </p:grpSpPr>
      <p:sp>
        <p:nvSpPr>
          <p:cNvPr id="391" name="Google Shape;391;p19">
            <a:extLst>
              <a:ext uri="{FF2B5EF4-FFF2-40B4-BE49-F238E27FC236}">
                <a16:creationId xmlns:a16="http://schemas.microsoft.com/office/drawing/2014/main" id="{E1EDFAF6-85EF-CA59-209F-3C03A5EB2BC9}"/>
              </a:ext>
            </a:extLst>
          </p:cNvPr>
          <p:cNvSpPr txBox="1">
            <a:spLocks noGrp="1"/>
          </p:cNvSpPr>
          <p:nvPr>
            <p:ph type="ctrTitle"/>
          </p:nvPr>
        </p:nvSpPr>
        <p:spPr>
          <a:xfrm>
            <a:off x="0" y="-5670"/>
            <a:ext cx="12192000" cy="990211"/>
          </a:xfrm>
          <a:prstGeom prst="rect">
            <a:avLst/>
          </a:prstGeom>
          <a:solidFill>
            <a:srgbClr val="FF6A0E"/>
          </a:solidFill>
          <a:ln w="9525" cap="flat" cmpd="sng">
            <a:solidFill>
              <a:srgbClr val="FFFFFF"/>
            </a:solidFill>
            <a:prstDash val="solid"/>
            <a:round/>
            <a:headEnd type="none" w="sm" len="sm"/>
            <a:tailEnd type="none" w="sm" len="sm"/>
          </a:ln>
        </p:spPr>
        <p:txBody>
          <a:bodyPr spcFirstLastPara="1" vert="horz" wrap="square" lIns="121900" tIns="121900" rIns="121900" bIns="121900" rtlCol="0" anchor="t" anchorCtr="0">
            <a:noAutofit/>
          </a:bodyPr>
          <a:lstStyle/>
          <a:p>
            <a:pPr marL="599985" algn="l">
              <a:lnSpc>
                <a:spcPct val="150000"/>
              </a:lnSpc>
              <a:spcBef>
                <a:spcPts val="0"/>
              </a:spcBef>
              <a:spcAft>
                <a:spcPts val="2133"/>
              </a:spcAft>
            </a:pPr>
            <a:endParaRPr sz="4000" b="1" dirty="0">
              <a:solidFill>
                <a:srgbClr val="FFFFFF"/>
              </a:solidFill>
              <a:latin typeface="Roboto"/>
              <a:ea typeface="Roboto"/>
              <a:cs typeface="Roboto"/>
              <a:sym typeface="Roboto"/>
            </a:endParaRPr>
          </a:p>
        </p:txBody>
      </p:sp>
      <p:sp>
        <p:nvSpPr>
          <p:cNvPr id="392" name="Google Shape;392;p19">
            <a:extLst>
              <a:ext uri="{FF2B5EF4-FFF2-40B4-BE49-F238E27FC236}">
                <a16:creationId xmlns:a16="http://schemas.microsoft.com/office/drawing/2014/main" id="{98E467A6-6440-4A39-C26D-CA3DB672AFDF}"/>
              </a:ext>
            </a:extLst>
          </p:cNvPr>
          <p:cNvSpPr txBox="1"/>
          <p:nvPr/>
        </p:nvSpPr>
        <p:spPr>
          <a:xfrm>
            <a:off x="0" y="1021534"/>
            <a:ext cx="12192000" cy="5379265"/>
          </a:xfrm>
          <a:prstGeom prst="rect">
            <a:avLst/>
          </a:prstGeom>
          <a:noFill/>
          <a:ln>
            <a:noFill/>
          </a:ln>
        </p:spPr>
        <p:txBody>
          <a:bodyPr spcFirstLastPara="1" wrap="square" lIns="365733" tIns="365733" rIns="365733" bIns="365733" anchor="t" anchorCtr="0">
            <a:noAutofit/>
          </a:bodyPr>
          <a:lstStyle/>
          <a:p>
            <a:pPr marL="609585" algn="just">
              <a:lnSpc>
                <a:spcPct val="150000"/>
              </a:lnSpc>
              <a:spcBef>
                <a:spcPts val="2133"/>
              </a:spcBef>
              <a:spcAft>
                <a:spcPts val="2133"/>
              </a:spcAft>
            </a:pPr>
            <a:endParaRPr sz="2667" dirty="0">
              <a:solidFill>
                <a:schemeClr val="dk1"/>
              </a:solidFill>
              <a:latin typeface="Roboto"/>
              <a:ea typeface="Roboto"/>
              <a:cs typeface="Roboto"/>
              <a:sym typeface="Roboto"/>
            </a:endParaRPr>
          </a:p>
        </p:txBody>
      </p:sp>
      <p:sp>
        <p:nvSpPr>
          <p:cNvPr id="393" name="Google Shape;393;p19">
            <a:extLst>
              <a:ext uri="{FF2B5EF4-FFF2-40B4-BE49-F238E27FC236}">
                <a16:creationId xmlns:a16="http://schemas.microsoft.com/office/drawing/2014/main" id="{B5E67E82-813C-BA18-D205-FCD18FE1F3C4}"/>
              </a:ext>
            </a:extLst>
          </p:cNvPr>
          <p:cNvSpPr txBox="1"/>
          <p:nvPr/>
        </p:nvSpPr>
        <p:spPr>
          <a:xfrm>
            <a:off x="-13400" y="6400800"/>
            <a:ext cx="12218800" cy="360800"/>
          </a:xfrm>
          <a:prstGeom prst="rect">
            <a:avLst/>
          </a:prstGeom>
          <a:solidFill>
            <a:srgbClr val="FF6A0E"/>
          </a:solidFill>
          <a:ln>
            <a:noFill/>
          </a:ln>
        </p:spPr>
        <p:txBody>
          <a:bodyPr spcFirstLastPara="1" wrap="square" lIns="121900" tIns="121900" rIns="121900" bIns="121900" anchor="ctr" anchorCtr="0">
            <a:noAutofit/>
          </a:bodyPr>
          <a:lstStyle/>
          <a:p>
            <a:pPr marR="243834" algn="r"/>
            <a:r>
              <a:rPr lang="en-GB" sz="1600">
                <a:solidFill>
                  <a:srgbClr val="FFFFFF"/>
                </a:solidFill>
                <a:latin typeface="Roboto"/>
                <a:ea typeface="Roboto"/>
                <a:cs typeface="Roboto"/>
                <a:sym typeface="Roboto"/>
              </a:rPr>
              <a:t>© All rights reserved by Fireblaze Technologies Pvt. Ltd.</a:t>
            </a:r>
            <a:endParaRPr sz="1600">
              <a:solidFill>
                <a:srgbClr val="FFFFFF"/>
              </a:solidFill>
              <a:latin typeface="Roboto"/>
              <a:ea typeface="Roboto"/>
              <a:cs typeface="Roboto"/>
              <a:sym typeface="Roboto"/>
            </a:endParaRPr>
          </a:p>
        </p:txBody>
      </p:sp>
      <p:sp>
        <p:nvSpPr>
          <p:cNvPr id="394" name="Google Shape;394;p19">
            <a:extLst>
              <a:ext uri="{FF2B5EF4-FFF2-40B4-BE49-F238E27FC236}">
                <a16:creationId xmlns:a16="http://schemas.microsoft.com/office/drawing/2014/main" id="{334382AA-08D9-D37F-0DD4-418F5784B838}"/>
              </a:ext>
            </a:extLst>
          </p:cNvPr>
          <p:cNvSpPr/>
          <p:nvPr/>
        </p:nvSpPr>
        <p:spPr>
          <a:xfrm rot="10800000">
            <a:off x="11516800" y="130333"/>
            <a:ext cx="675200" cy="7552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95" name="Google Shape;395;p19">
            <a:extLst>
              <a:ext uri="{FF2B5EF4-FFF2-40B4-BE49-F238E27FC236}">
                <a16:creationId xmlns:a16="http://schemas.microsoft.com/office/drawing/2014/main" id="{B182B578-CD24-59BF-CA29-6C6A77092C90}"/>
              </a:ext>
            </a:extLst>
          </p:cNvPr>
          <p:cNvSpPr/>
          <p:nvPr/>
        </p:nvSpPr>
        <p:spPr>
          <a:xfrm>
            <a:off x="0" y="6400800"/>
            <a:ext cx="435200" cy="360800"/>
          </a:xfrm>
          <a:prstGeom prst="rtTriangle">
            <a:avLst/>
          </a:prstGeom>
          <a:solidFill>
            <a:srgbClr val="FF9900"/>
          </a:solidFill>
          <a:ln>
            <a:noFill/>
          </a:ln>
        </p:spPr>
        <p:txBody>
          <a:bodyPr spcFirstLastPara="1" wrap="square" lIns="121900" tIns="121900" rIns="121900" bIns="121900" anchor="ctr" anchorCtr="0">
            <a:noAutofit/>
          </a:bodyPr>
          <a:lstStyle/>
          <a:p>
            <a:endParaRPr sz="2400"/>
          </a:p>
        </p:txBody>
      </p:sp>
      <p:sp>
        <p:nvSpPr>
          <p:cNvPr id="3" name="TextBox 2">
            <a:extLst>
              <a:ext uri="{FF2B5EF4-FFF2-40B4-BE49-F238E27FC236}">
                <a16:creationId xmlns:a16="http://schemas.microsoft.com/office/drawing/2014/main" id="{22030204-AB0B-D1B0-0C86-547F5C64F418}"/>
              </a:ext>
            </a:extLst>
          </p:cNvPr>
          <p:cNvSpPr txBox="1"/>
          <p:nvPr/>
        </p:nvSpPr>
        <p:spPr>
          <a:xfrm>
            <a:off x="4287520" y="2880169"/>
            <a:ext cx="3616960" cy="830997"/>
          </a:xfrm>
          <a:prstGeom prst="rect">
            <a:avLst/>
          </a:prstGeom>
          <a:noFill/>
        </p:spPr>
        <p:txBody>
          <a:bodyPr wrap="square" rtlCol="0">
            <a:spAutoFit/>
          </a:bodyPr>
          <a:lstStyle/>
          <a:p>
            <a:r>
              <a:rPr lang="en-IN" sz="4800" b="1" dirty="0"/>
              <a:t>Thank You</a:t>
            </a:r>
          </a:p>
        </p:txBody>
      </p:sp>
    </p:spTree>
    <p:extLst>
      <p:ext uri="{BB962C8B-B14F-4D97-AF65-F5344CB8AC3E}">
        <p14:creationId xmlns:p14="http://schemas.microsoft.com/office/powerpoint/2010/main" val="3109622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511</TotalTime>
  <Words>1537</Words>
  <Application>Microsoft Office PowerPoint</Application>
  <PresentationFormat>Widescreen</PresentationFormat>
  <Paragraphs>181</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Roboto</vt:lpstr>
      <vt:lpstr>Office Theme</vt:lpstr>
      <vt:lpstr>PowerPoint Presentation</vt:lpstr>
      <vt:lpstr>Problem Statement</vt:lpstr>
      <vt:lpstr>About the Data</vt:lpstr>
      <vt:lpstr>Tools &amp; Techniques</vt:lpstr>
      <vt:lpstr>ER Diagram</vt:lpstr>
      <vt:lpstr>SQL-Based Data Insights</vt:lpstr>
      <vt:lpstr>SQL-Based Data Insights</vt:lpstr>
      <vt:lpstr>SQL-Based Data Insights</vt:lpstr>
      <vt:lpstr>SQL-Based Data Insights</vt:lpstr>
      <vt:lpstr>SQL-Based Data Insights</vt:lpstr>
      <vt:lpstr>Python-Based Data Visualization Insights</vt:lpstr>
      <vt:lpstr>Python-Based Data Visualization Insights</vt:lpstr>
      <vt:lpstr>Python-Based Data Visualization Insights</vt:lpstr>
      <vt:lpstr>Power BI Dashboard</vt:lpstr>
      <vt:lpstr>Power BI Dashboard</vt:lpstr>
      <vt:lpstr>Power BI Dashboard</vt:lpstr>
      <vt:lpstr>Proposed Solution</vt:lpstr>
      <vt:lpstr>Conclusion</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Zebion</dc:creator>
  <cp:lastModifiedBy>Deepanshu Kawale</cp:lastModifiedBy>
  <cp:revision>8</cp:revision>
  <dcterms:created xsi:type="dcterms:W3CDTF">2022-08-27T05:41:13Z</dcterms:created>
  <dcterms:modified xsi:type="dcterms:W3CDTF">2026-06-02T11:11:57Z</dcterms:modified>
</cp:coreProperties>
</file>